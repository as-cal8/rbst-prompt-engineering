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16"/>
  </p:notesMasterIdLst>
  <p:sldIdLst>
    <p:sldId id="256" r:id="rId2"/>
    <p:sldId id="258" r:id="rId3"/>
    <p:sldId id="264" r:id="rId4"/>
    <p:sldId id="260" r:id="rId5"/>
    <p:sldId id="261" r:id="rId6"/>
    <p:sldId id="266" r:id="rId7"/>
    <p:sldId id="262" r:id="rId8"/>
    <p:sldId id="269" r:id="rId9"/>
    <p:sldId id="272" r:id="rId10"/>
    <p:sldId id="273" r:id="rId11"/>
    <p:sldId id="271" r:id="rId12"/>
    <p:sldId id="263" r:id="rId13"/>
    <p:sldId id="270"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91" autoAdjust="0"/>
    <p:restoredTop sz="78392" autoAdjust="0"/>
  </p:normalViewPr>
  <p:slideViewPr>
    <p:cSldViewPr snapToGrid="0">
      <p:cViewPr varScale="1">
        <p:scale>
          <a:sx n="125" d="100"/>
          <a:sy n="125" d="100"/>
        </p:scale>
        <p:origin x="178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1CC868-F01F-4D3C-B0FF-9A3075033AE5}" type="datetimeFigureOut">
              <a:rPr lang="en-AT" smtClean="0"/>
              <a:t>03/06/2025</a:t>
            </a:fld>
            <a:endParaRPr lang="en-A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C8DF60-03EB-41BF-AD08-E11AFAEB47A5}" type="slidenum">
              <a:rPr lang="en-AT" smtClean="0"/>
              <a:t>‹#›</a:t>
            </a:fld>
            <a:endParaRPr lang="en-AT"/>
          </a:p>
        </p:txBody>
      </p:sp>
    </p:spTree>
    <p:extLst>
      <p:ext uri="{BB962C8B-B14F-4D97-AF65-F5344CB8AC3E}">
        <p14:creationId xmlns:p14="http://schemas.microsoft.com/office/powerpoint/2010/main" val="4173839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nd.edu/"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dirty="0"/>
          </a:p>
        </p:txBody>
      </p:sp>
      <p:sp>
        <p:nvSpPr>
          <p:cNvPr id="4" name="Slide Number Placeholder 3"/>
          <p:cNvSpPr>
            <a:spLocks noGrp="1"/>
          </p:cNvSpPr>
          <p:nvPr>
            <p:ph type="sldNum" sz="quarter" idx="5"/>
          </p:nvPr>
        </p:nvSpPr>
        <p:spPr/>
        <p:txBody>
          <a:bodyPr/>
          <a:lstStyle/>
          <a:p>
            <a:fld id="{75C8DF60-03EB-41BF-AD08-E11AFAEB47A5}" type="slidenum">
              <a:rPr lang="en-AT" smtClean="0"/>
              <a:t>1</a:t>
            </a:fld>
            <a:endParaRPr lang="en-AT"/>
          </a:p>
        </p:txBody>
      </p:sp>
    </p:spTree>
    <p:extLst>
      <p:ext uri="{BB962C8B-B14F-4D97-AF65-F5344CB8AC3E}">
        <p14:creationId xmlns:p14="http://schemas.microsoft.com/office/powerpoint/2010/main" val="1322344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we all know we need software tests to ensure a certain quality of the applicaton.</a:t>
            </a:r>
          </a:p>
          <a:p>
            <a:r>
              <a:rPr lang="en-GB" dirty="0"/>
              <a:t>Now to which extend testing is done is dependent mostly on </a:t>
            </a:r>
          </a:p>
          <a:p>
            <a:pPr marL="171450" indent="-171450">
              <a:buFontTx/>
              <a:buChar char="-"/>
            </a:pPr>
            <a:r>
              <a:rPr lang="en-GB" dirty="0"/>
              <a:t>the domain (how much security, contraints, …)</a:t>
            </a:r>
          </a:p>
          <a:p>
            <a:pPr marL="171450" indent="-171450">
              <a:buFontTx/>
              <a:buChar char="-"/>
            </a:pPr>
            <a:r>
              <a:rPr lang="en-GB" dirty="0"/>
              <a:t>and availability of resources (human resource, financal).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-&gt; trade off between under and over testing and cost</a:t>
            </a:r>
          </a:p>
          <a:p>
            <a:endParaRPr lang="en-GB" dirty="0"/>
          </a:p>
          <a:p>
            <a:r>
              <a:rPr lang="en-GB" dirty="0"/>
              <a:t>In practice a lot of manual work in many situations repetitive and at some point lets be honest boring.</a:t>
            </a:r>
          </a:p>
          <a:p>
            <a:r>
              <a:rPr lang="en-GB" dirty="0"/>
              <a:t>As many tests are quite simple.</a:t>
            </a:r>
          </a:p>
          <a:p>
            <a:r>
              <a:rPr lang="en-GB" dirty="0"/>
              <a:t>Even tho not as bad as writing documentation.</a:t>
            </a:r>
          </a:p>
          <a:p>
            <a:endParaRPr lang="en-GB" dirty="0"/>
          </a:p>
          <a:p>
            <a:r>
              <a:rPr lang="en-GB" dirty="0"/>
              <a:t>I think that’s one of the main reasons why this is such an interesting application for LLM’s. (engineers lazy / boring work -&gt; lets automate)</a:t>
            </a:r>
          </a:p>
          <a:p>
            <a:r>
              <a:rPr lang="en-GB" dirty="0"/>
              <a:t>LLM with their inreasing capabilities open up possibilities to change the classic approach and potentially minimize or optimize the testing procedure.</a:t>
            </a:r>
          </a:p>
          <a:p>
            <a:endParaRPr lang="en-GB" dirty="0"/>
          </a:p>
          <a:p>
            <a:pPr marL="171450" indent="-171450">
              <a:buFontTx/>
              <a:buChar char="-"/>
            </a:pPr>
            <a:endParaRPr lang="en-GB" dirty="0"/>
          </a:p>
          <a:p>
            <a:pPr marL="171450" indent="-171450">
              <a:buFontTx/>
              <a:buChar char="-"/>
            </a:pPr>
            <a:r>
              <a:rPr lang="en-GB" dirty="0"/>
              <a:t>Unit testing: smallest testable part (done by developer)</a:t>
            </a:r>
          </a:p>
          <a:p>
            <a:pPr marL="628650" lvl="1" indent="-171450">
              <a:buFontTx/>
              <a:buChar char="-"/>
            </a:pPr>
            <a:r>
              <a:rPr lang="en-GB" dirty="0"/>
              <a:t>LLM already very capable much research - automating unit test generation for high coverage</a:t>
            </a:r>
          </a:p>
          <a:p>
            <a:pPr marL="628650" lvl="1" indent="-171450">
              <a:buFontTx/>
              <a:buChar char="-"/>
            </a:pPr>
            <a:r>
              <a:rPr lang="en-GB" dirty="0"/>
              <a:t>From my experience not yet established very well in the industry</a:t>
            </a:r>
          </a:p>
          <a:p>
            <a:pPr marL="171450" indent="-171450">
              <a:buFontTx/>
              <a:buChar char="-"/>
            </a:pPr>
            <a:r>
              <a:rPr lang="en-GB" dirty="0"/>
              <a:t>Integration testing: integrate unit tested component and test them as a group – interfacing</a:t>
            </a:r>
          </a:p>
          <a:p>
            <a:pPr marL="628650" lvl="1" indent="-171450">
              <a:buFontTx/>
              <a:buChar char="-"/>
            </a:pPr>
            <a:r>
              <a:rPr lang="en-GB" dirty="0"/>
              <a:t>Research??</a:t>
            </a:r>
          </a:p>
          <a:p>
            <a:pPr marL="171450" indent="-171450">
              <a:buFontTx/>
              <a:buChar char="-"/>
            </a:pPr>
            <a:r>
              <a:rPr lang="en-GB" dirty="0"/>
              <a:t>Acceptance/Validation testing: authenticate whether product is developed as per standards and detailed criteria and meets all requirements specified by the user</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dirty="0"/>
              <a:t>ReSystem testing: testing done on complete integrated system</a:t>
            </a:r>
          </a:p>
          <a:p>
            <a:pPr marL="628650" lvl="1" indent="-171450">
              <a:buFontTx/>
              <a:buChar char="-"/>
            </a:pPr>
            <a:r>
              <a:rPr lang="en-GB" dirty="0"/>
              <a:t>search??</a:t>
            </a:r>
          </a:p>
          <a:p>
            <a:pPr marL="628650" lvl="1" indent="-171450">
              <a:buFontTx/>
              <a:buChar char="-"/>
            </a:pPr>
            <a:r>
              <a:rPr lang="en-GB" dirty="0"/>
              <a:t>Many LLM applications-&gt; software already done for the most part. (mainly for GUI testing mobile apps)</a:t>
            </a:r>
          </a:p>
          <a:p>
            <a:pPr marL="628650" lvl="1" indent="-171450">
              <a:buFontTx/>
              <a:buChar char="-"/>
            </a:pPr>
            <a:r>
              <a:rPr lang="en-GB" dirty="0"/>
              <a:t>Generating test scenarios for the whole system</a:t>
            </a:r>
          </a:p>
          <a:p>
            <a:endParaRPr lang="en-GB" dirty="0"/>
          </a:p>
          <a:p>
            <a:r>
              <a:rPr lang="en-GB" dirty="0"/>
              <a:t>Even projects which act as a whole development team (archcode) -&gt; given problem statement and system goes through the whole process of</a:t>
            </a:r>
          </a:p>
          <a:p>
            <a:r>
              <a:rPr lang="en-GB" dirty="0"/>
              <a:t>Defining requirements, creating testcases and implementation.</a:t>
            </a:r>
          </a:p>
          <a:p>
            <a:endParaRPr lang="en-GB" dirty="0"/>
          </a:p>
          <a:p>
            <a:endParaRPr lang="en-GB" dirty="0"/>
          </a:p>
        </p:txBody>
      </p:sp>
      <p:sp>
        <p:nvSpPr>
          <p:cNvPr id="4" name="Slide Number Placeholder 3"/>
          <p:cNvSpPr>
            <a:spLocks noGrp="1"/>
          </p:cNvSpPr>
          <p:nvPr>
            <p:ph type="sldNum" sz="quarter" idx="5"/>
          </p:nvPr>
        </p:nvSpPr>
        <p:spPr/>
        <p:txBody>
          <a:bodyPr/>
          <a:lstStyle/>
          <a:p>
            <a:fld id="{75C8DF60-03EB-41BF-AD08-E11AFAEB47A5}" type="slidenum">
              <a:rPr lang="en-AT" smtClean="0"/>
              <a:t>2</a:t>
            </a:fld>
            <a:endParaRPr lang="en-AT"/>
          </a:p>
        </p:txBody>
      </p:sp>
    </p:spTree>
    <p:extLst>
      <p:ext uri="{BB962C8B-B14F-4D97-AF65-F5344CB8AC3E}">
        <p14:creationId xmlns:p14="http://schemas.microsoft.com/office/powerpoint/2010/main" val="638221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I am interested in and where I also found little research is trying to utilize the software requirements as a resource to generate testcases.</a:t>
            </a:r>
          </a:p>
          <a:p>
            <a:endParaRPr lang="en-GB" dirty="0"/>
          </a:p>
          <a:p>
            <a:r>
              <a:rPr lang="en-GB" dirty="0"/>
              <a:t>As in industrial settings integrating LLM’s in the development processes will be a step by step process.</a:t>
            </a:r>
          </a:p>
          <a:p>
            <a:endParaRPr lang="en-GB" dirty="0"/>
          </a:p>
          <a:p>
            <a:r>
              <a:rPr lang="en-GB" dirty="0"/>
              <a:t>Since for unit testing they are already commonly used, I wanted to approach the topic from the other direction starting at the requirements.</a:t>
            </a:r>
          </a:p>
          <a:p>
            <a:pPr marL="171450" indent="-171450">
              <a:buFont typeface="Wingdings" panose="05000000000000000000" pitchFamily="2" charset="2"/>
              <a:buChar char="è"/>
            </a:pPr>
            <a:r>
              <a:rPr lang="en-GB" dirty="0"/>
              <a:t> acceptance testing</a:t>
            </a:r>
          </a:p>
          <a:p>
            <a:endParaRPr lang="en-GB" dirty="0"/>
          </a:p>
          <a:p>
            <a:r>
              <a:rPr lang="en-GB" dirty="0"/>
              <a:t>High confidence that requirements are met is required at an early stage of developement. </a:t>
            </a:r>
          </a:p>
          <a:p>
            <a:endParaRPr lang="en-GB" dirty="0"/>
          </a:p>
          <a:p>
            <a:r>
              <a:rPr lang="en-GB" dirty="0"/>
              <a:t>I am interested in how capable LLM’s are in generating structured test case description out of natural language requirements.</a:t>
            </a:r>
          </a:p>
          <a:p>
            <a:r>
              <a:rPr lang="en-GB" dirty="0"/>
              <a:t>Especially in techincal domains.</a:t>
            </a:r>
          </a:p>
          <a:p>
            <a:endParaRPr lang="en-GB" dirty="0"/>
          </a:p>
          <a:p>
            <a:r>
              <a:rPr lang="en-GB" dirty="0"/>
              <a:t>Vision that in the future the approach would be a semi automatic acceptance testing pipeline with human in the loop.</a:t>
            </a:r>
          </a:p>
          <a:p>
            <a:endParaRPr lang="en-GB" dirty="0"/>
          </a:p>
          <a:p>
            <a:r>
              <a:rPr lang="en-GB" dirty="0"/>
              <a:t>requirements -&gt; LLM -&gt; TC’s + Human verification as a first part of the pipeline</a:t>
            </a:r>
          </a:p>
          <a:p>
            <a:r>
              <a:rPr lang="en-GB" dirty="0"/>
              <a:t>-&gt; LLM -&gt; implementation human or machine + verification through gernerated TC + Human verification</a:t>
            </a:r>
          </a:p>
          <a:p>
            <a:endParaRPr lang="en-GB" dirty="0"/>
          </a:p>
          <a:p>
            <a:r>
              <a:rPr lang="en-GB" dirty="0"/>
              <a:t>First we need to get an impression of how capable the models are to understand the requirements.</a:t>
            </a:r>
            <a:endParaRPr lang="en-AT" dirty="0"/>
          </a:p>
          <a:p>
            <a:endParaRPr lang="en-GB" dirty="0"/>
          </a:p>
          <a:p>
            <a:endParaRPr lang="en-GB" dirty="0"/>
          </a:p>
          <a:p>
            <a:pPr marL="0" indent="0">
              <a:buNone/>
            </a:pPr>
            <a:endParaRPr lang="en-GB" dirty="0"/>
          </a:p>
          <a:p>
            <a:endParaRPr lang="en-AT" dirty="0"/>
          </a:p>
        </p:txBody>
      </p:sp>
      <p:sp>
        <p:nvSpPr>
          <p:cNvPr id="4" name="Slide Number Placeholder 3"/>
          <p:cNvSpPr>
            <a:spLocks noGrp="1"/>
          </p:cNvSpPr>
          <p:nvPr>
            <p:ph type="sldNum" sz="quarter" idx="5"/>
          </p:nvPr>
        </p:nvSpPr>
        <p:spPr/>
        <p:txBody>
          <a:bodyPr/>
          <a:lstStyle/>
          <a:p>
            <a:fld id="{75C8DF60-03EB-41BF-AD08-E11AFAEB47A5}" type="slidenum">
              <a:rPr lang="en-AT" smtClean="0"/>
              <a:t>3</a:t>
            </a:fld>
            <a:endParaRPr lang="en-AT"/>
          </a:p>
        </p:txBody>
      </p:sp>
    </p:spTree>
    <p:extLst>
      <p:ext uri="{BB962C8B-B14F-4D97-AF65-F5344CB8AC3E}">
        <p14:creationId xmlns:p14="http://schemas.microsoft.com/office/powerpoint/2010/main" val="3541748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 an experimental setup I first thought about the evaluation procedure.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 the difficulty should not be to generate output, but to evaluate the quality of the output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Therefore I created a framework for structured test descriptions.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General structure shall be enforced using JSON which is a common way to get structured output from a LLM -&gt; this already introduces a kind of directional stimulus.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onsolas" panose="020B0609020204030204" pitchFamily="49" charset="0"/>
              </a:rPr>
              <a:t>Requirement, test objective, preconditions, test steps, expected result </a:t>
            </a:r>
            <a:endParaRPr lang="en-GB" dirty="0">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Using prompt engineering techniques to generate testcase for each requirement.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Implement validation structure for each component of the test description for a first quality estimate of model and prompt.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Requirement -&gt; high cosine similarity with original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testObjective -&gt; describes the goal shall start with a verb</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preconditions -&gt; describes a state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testSteps -&gt; generic check for list of sentences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Expected results -&gt;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 a last step human verification.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75C8DF60-03EB-41BF-AD08-E11AFAEB47A5}" type="slidenum">
              <a:rPr lang="en-AT" smtClean="0"/>
              <a:t>4</a:t>
            </a:fld>
            <a:endParaRPr lang="en-AT"/>
          </a:p>
        </p:txBody>
      </p:sp>
    </p:spTree>
    <p:extLst>
      <p:ext uri="{BB962C8B-B14F-4D97-AF65-F5344CB8AC3E}">
        <p14:creationId xmlns:p14="http://schemas.microsoft.com/office/powerpoint/2010/main" val="2692396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also want to quickly talk about the domain </a:t>
            </a:r>
          </a:p>
          <a:p>
            <a:r>
              <a:rPr lang="en-GB" dirty="0"/>
              <a:t>Dronology is an Open-Source Unmanned Aerial System (UAS) developed at the </a:t>
            </a:r>
            <a:r>
              <a:rPr lang="en-GB" dirty="0">
                <a:hlinkClick r:id="rId3"/>
              </a:rPr>
              <a:t>University of Notre Dame</a:t>
            </a:r>
            <a:r>
              <a:rPr lang="en-GB" dirty="0"/>
              <a:t>. </a:t>
            </a:r>
            <a:br>
              <a:rPr lang="en-GB" dirty="0"/>
            </a:br>
            <a:endParaRPr lang="en-GB" dirty="0"/>
          </a:p>
          <a:p>
            <a:r>
              <a:rPr lang="en-GB" dirty="0"/>
              <a:t>Two goals:</a:t>
            </a:r>
          </a:p>
          <a:p>
            <a:pPr marL="171450" indent="-171450">
              <a:buFont typeface="Wingdings" panose="05000000000000000000" pitchFamily="2" charset="2"/>
              <a:buChar char="è"/>
            </a:pPr>
            <a:r>
              <a:rPr lang="en-GB" b="1" dirty="0"/>
              <a:t>establish a research environment</a:t>
            </a:r>
            <a:r>
              <a:rPr lang="en-GB" dirty="0"/>
              <a:t> for studying various aspects of software and systems engineering for cyber-physical systems -&gt; that’s why requirements public</a:t>
            </a:r>
          </a:p>
          <a:p>
            <a:pPr marL="171450" indent="-171450">
              <a:buFont typeface="Wingdings" panose="05000000000000000000" pitchFamily="2" charset="2"/>
              <a:buChar char="è"/>
            </a:pPr>
            <a:r>
              <a:rPr lang="en-GB" dirty="0"/>
              <a:t>to </a:t>
            </a:r>
            <a:r>
              <a:rPr lang="en-GB" b="1" dirty="0"/>
              <a:t>provide a framework for controlling and coordinating the flight</a:t>
            </a:r>
            <a:r>
              <a:rPr lang="en-GB" dirty="0"/>
              <a:t> of individual UAS, formations, and swarms in order to to support applications such as search-and-rescue, surveillance, and scientific data collection.</a:t>
            </a:r>
          </a:p>
          <a:p>
            <a:endParaRPr lang="en-GB" dirty="0"/>
          </a:p>
          <a:p>
            <a:r>
              <a:rPr lang="en-GB" dirty="0"/>
              <a:t>It is designed around the concept of a Dronology Core</a:t>
            </a:r>
          </a:p>
          <a:p>
            <a:r>
              <a:rPr lang="en-GB" dirty="0"/>
              <a:t>Services middleware that support UI development </a:t>
            </a:r>
          </a:p>
          <a:p>
            <a:r>
              <a:rPr lang="en-GB" dirty="0"/>
              <a:t>Groundstation middleware that supports communication with diverse UAS. </a:t>
            </a:r>
          </a:p>
          <a:p>
            <a:br>
              <a:rPr lang="en-GB" dirty="0"/>
            </a:br>
            <a:r>
              <a:rPr lang="en-GB" dirty="0"/>
              <a:t>Dronology Core provides features for coordinating the flights of multiple sUAS in a shared airspace. </a:t>
            </a:r>
          </a:p>
          <a:p>
            <a:r>
              <a:rPr lang="en-GB" dirty="0"/>
              <a:t>Dronology services are used by various clients to construct user interfaces. </a:t>
            </a:r>
          </a:p>
          <a:p>
            <a:r>
              <a:rPr lang="en-GB" dirty="0"/>
              <a:t>The services can be used to perform tasks such as upload flight plans, activate UASs, observe and visualize UAS flights, and register equipment to individual UAS.</a:t>
            </a:r>
          </a:p>
          <a:p>
            <a:br>
              <a:rPr lang="en-GB" dirty="0"/>
            </a:br>
            <a:r>
              <a:rPr lang="en-GB" dirty="0"/>
              <a:t>The ground station middleware provides a bridge between the Dronology core and a diverse set of ground stations.  </a:t>
            </a:r>
          </a:p>
          <a:p>
            <a:r>
              <a:rPr lang="en-GB" dirty="0"/>
              <a:t>It passes directives from the Dronology core to UAVs registered through their respective ground stations, and forwards UAV data, such as their GPS coordinates from the ground station back to the the core.</a:t>
            </a:r>
            <a:br>
              <a:rPr lang="en-GB" dirty="0"/>
            </a:br>
            <a:r>
              <a:rPr lang="en-GB" dirty="0"/>
              <a:t>Groundstations are responsible for communicating directly with the physical or externally simulated UAVs.  </a:t>
            </a:r>
          </a:p>
        </p:txBody>
      </p:sp>
      <p:sp>
        <p:nvSpPr>
          <p:cNvPr id="4" name="Slide Number Placeholder 3"/>
          <p:cNvSpPr>
            <a:spLocks noGrp="1"/>
          </p:cNvSpPr>
          <p:nvPr>
            <p:ph type="sldNum" sz="quarter" idx="5"/>
          </p:nvPr>
        </p:nvSpPr>
        <p:spPr/>
        <p:txBody>
          <a:bodyPr/>
          <a:lstStyle/>
          <a:p>
            <a:fld id="{75C8DF60-03EB-41BF-AD08-E11AFAEB47A5}" type="slidenum">
              <a:rPr lang="en-AT" smtClean="0"/>
              <a:t>5</a:t>
            </a:fld>
            <a:endParaRPr lang="en-AT"/>
          </a:p>
        </p:txBody>
      </p:sp>
    </p:spTree>
    <p:extLst>
      <p:ext uri="{BB962C8B-B14F-4D97-AF65-F5344CB8AC3E}">
        <p14:creationId xmlns:p14="http://schemas.microsoft.com/office/powerpoint/2010/main" val="3964314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Total of 97 requirements</a:t>
            </a:r>
          </a:p>
          <a:p>
            <a:r>
              <a:rPr lang="en-GB" dirty="0"/>
              <a:t>Examples shown, always a trade off of how much time and effort you put into the requirements.</a:t>
            </a:r>
          </a:p>
          <a:p>
            <a:r>
              <a:rPr lang="en-GB" dirty="0"/>
              <a:t>Requirements engineering its own topic</a:t>
            </a:r>
          </a:p>
          <a:p>
            <a:endParaRPr lang="en-GB" dirty="0"/>
          </a:p>
          <a:p>
            <a:r>
              <a:rPr lang="en-GB" dirty="0"/>
              <a:t>Biggest factor therefore are definitions of requirements </a:t>
            </a:r>
          </a:p>
          <a:p>
            <a:pPr marL="171450" indent="-171450">
              <a:buFontTx/>
              <a:buChar char="-"/>
            </a:pPr>
            <a:r>
              <a:rPr lang="en-GB" dirty="0"/>
              <a:t>how detailed requirements are defined – usually using natural language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room for interpretation – possible conflicts, … but definition is another topic (verifying requirements for completeness, integrity, …. Is another story)</a:t>
            </a:r>
          </a:p>
          <a:p>
            <a:pPr marL="171450" indent="-171450">
              <a:buFontTx/>
              <a:buChar char="-"/>
            </a:pPr>
            <a:r>
              <a:rPr lang="en-GB" dirty="0"/>
              <a:t>requirements define what the system must to but not how.</a:t>
            </a:r>
          </a:p>
          <a:p>
            <a:pPr marL="171450" indent="-171450">
              <a:buFontTx/>
              <a:buChar char="-"/>
            </a:pPr>
            <a:r>
              <a:rPr lang="en-GB" dirty="0"/>
              <a:t>basic functionality of a system shall be tested through simple testcases that relate to at least one requirement.</a:t>
            </a:r>
          </a:p>
          <a:p>
            <a:endParaRPr lang="en-GB" dirty="0"/>
          </a:p>
          <a:p>
            <a:r>
              <a:rPr lang="en-GB" dirty="0"/>
              <a:t>(Website says source code will be available in the future)</a:t>
            </a:r>
          </a:p>
        </p:txBody>
      </p:sp>
      <p:sp>
        <p:nvSpPr>
          <p:cNvPr id="4" name="Slide Number Placeholder 3"/>
          <p:cNvSpPr>
            <a:spLocks noGrp="1"/>
          </p:cNvSpPr>
          <p:nvPr>
            <p:ph type="sldNum" sz="quarter" idx="5"/>
          </p:nvPr>
        </p:nvSpPr>
        <p:spPr/>
        <p:txBody>
          <a:bodyPr/>
          <a:lstStyle/>
          <a:p>
            <a:fld id="{75C8DF60-03EB-41BF-AD08-E11AFAEB47A5}" type="slidenum">
              <a:rPr lang="en-AT" smtClean="0"/>
              <a:t>6</a:t>
            </a:fld>
            <a:endParaRPr lang="en-AT"/>
          </a:p>
        </p:txBody>
      </p:sp>
    </p:spTree>
    <p:extLst>
      <p:ext uri="{BB962C8B-B14F-4D97-AF65-F5344CB8AC3E}">
        <p14:creationId xmlns:p14="http://schemas.microsoft.com/office/powerpoint/2010/main" val="913013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Shortly discuss the prompt engineering techniques I focused on.</a:t>
            </a:r>
          </a:p>
          <a:p>
            <a:endParaRPr lang="en-GB" dirty="0"/>
          </a:p>
          <a:p>
            <a:r>
              <a:rPr lang="en-GB" dirty="0"/>
              <a:t>As a baseline Zero shot learning was used with directional stimulus</a:t>
            </a:r>
          </a:p>
          <a:p>
            <a:pPr marL="171450" indent="-171450">
              <a:buFont typeface="Wingdings" panose="05000000000000000000" pitchFamily="2" charset="2"/>
              <a:buChar char="è"/>
            </a:pPr>
            <a:r>
              <a:rPr lang="en-GB" dirty="0"/>
              <a:t>Json test description structure can be seen as providing directional stimulus</a:t>
            </a:r>
          </a:p>
          <a:p>
            <a:pPr marL="0" indent="0">
              <a:buFont typeface="Wingdings" panose="05000000000000000000" pitchFamily="2" charset="2"/>
              <a:buNone/>
            </a:pPr>
            <a:endParaRPr lang="en-GB" dirty="0"/>
          </a:p>
          <a:p>
            <a:pPr marL="0" indent="0">
              <a:buFont typeface="Wingdings" panose="05000000000000000000" pitchFamily="2" charset="2"/>
              <a:buNone/>
            </a:pPr>
            <a:r>
              <a:rPr lang="en-GB" dirty="0"/>
              <a:t>Personas – software tester + json structure</a:t>
            </a:r>
          </a:p>
          <a:p>
            <a:pPr marL="0" indent="0">
              <a:buFont typeface="Wingdings" panose="05000000000000000000" pitchFamily="2" charset="2"/>
              <a:buNone/>
            </a:pPr>
            <a:endParaRPr lang="en-GB" dirty="0"/>
          </a:p>
          <a:p>
            <a:pPr marL="0" indent="0">
              <a:buFont typeface="Wingdings" panose="05000000000000000000" pitchFamily="2" charset="2"/>
              <a:buNone/>
            </a:pPr>
            <a:r>
              <a:rPr lang="en-GB" dirty="0"/>
              <a:t>TOT – multiple experts discussing solution if one is wrong he steps back + json structure</a:t>
            </a:r>
          </a:p>
          <a:p>
            <a:pPr marL="0" indent="0">
              <a:buFont typeface="Wingdings" panose="05000000000000000000" pitchFamily="2" charset="2"/>
              <a:buNone/>
            </a:pPr>
            <a:endParaRPr lang="en-GB" dirty="0"/>
          </a:p>
          <a:p>
            <a:pPr marL="0" indent="0">
              <a:buFont typeface="Wingdings" panose="05000000000000000000" pitchFamily="2" charset="2"/>
              <a:buNone/>
            </a:pPr>
            <a:r>
              <a:rPr lang="en-GB" dirty="0"/>
              <a:t>Providing context</a:t>
            </a:r>
          </a:p>
          <a:p>
            <a:pPr marL="171450" indent="-171450">
              <a:buFont typeface="Wingdings" panose="05000000000000000000" pitchFamily="2" charset="2"/>
              <a:buChar char="è"/>
            </a:pPr>
            <a:r>
              <a:rPr lang="en-GB" dirty="0"/>
              <a:t>First in form of introduction of dronology design</a:t>
            </a:r>
          </a:p>
          <a:p>
            <a:pPr marL="171450" indent="-171450">
              <a:buFont typeface="Wingdings" panose="05000000000000000000" pitchFamily="2" charset="2"/>
              <a:buChar char="è"/>
            </a:pPr>
            <a:r>
              <a:rPr lang="en-GB" dirty="0"/>
              <a:t>Preparsing all requirements + TOT</a:t>
            </a:r>
          </a:p>
          <a:p>
            <a:pPr marL="0" indent="0">
              <a:buFont typeface="Wingdings" panose="05000000000000000000" pitchFamily="2" charset="2"/>
              <a:buNone/>
            </a:pPr>
            <a:endParaRPr lang="en-GB" dirty="0"/>
          </a:p>
          <a:p>
            <a:pPr marL="0" indent="0">
              <a:buFont typeface="Wingdings" panose="05000000000000000000" pitchFamily="2" charset="2"/>
              <a:buNone/>
            </a:pPr>
            <a:endParaRPr lang="en-AT" dirty="0"/>
          </a:p>
        </p:txBody>
      </p:sp>
      <p:sp>
        <p:nvSpPr>
          <p:cNvPr id="4" name="Slide Number Placeholder 3"/>
          <p:cNvSpPr>
            <a:spLocks noGrp="1"/>
          </p:cNvSpPr>
          <p:nvPr>
            <p:ph type="sldNum" sz="quarter" idx="5"/>
          </p:nvPr>
        </p:nvSpPr>
        <p:spPr/>
        <p:txBody>
          <a:bodyPr/>
          <a:lstStyle/>
          <a:p>
            <a:fld id="{75C8DF60-03EB-41BF-AD08-E11AFAEB47A5}" type="slidenum">
              <a:rPr lang="en-AT" smtClean="0"/>
              <a:t>7</a:t>
            </a:fld>
            <a:endParaRPr lang="en-AT"/>
          </a:p>
        </p:txBody>
      </p:sp>
    </p:spTree>
    <p:extLst>
      <p:ext uri="{BB962C8B-B14F-4D97-AF65-F5344CB8AC3E}">
        <p14:creationId xmlns:p14="http://schemas.microsoft.com/office/powerpoint/2010/main" val="3643168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Deepseek made quite the news when it was published.</a:t>
            </a:r>
          </a:p>
          <a:p>
            <a:r>
              <a:rPr lang="en-GB" dirty="0"/>
              <a:t>and has also shown that reasoning patterns of large models can be distilled into smaller ones.</a:t>
            </a:r>
          </a:p>
          <a:p>
            <a:r>
              <a:rPr lang="en-GB" dirty="0"/>
              <a:t>Smaller perform better if learning from bigger than learning on their own (through RL)</a:t>
            </a:r>
          </a:p>
          <a:p>
            <a:endParaRPr lang="en-GB" dirty="0"/>
          </a:p>
          <a:p>
            <a:r>
              <a:rPr lang="en-GB" dirty="0"/>
              <a:t>This allows to run LLM’s locally with limited resources and fully independent.</a:t>
            </a:r>
          </a:p>
          <a:p>
            <a:r>
              <a:rPr lang="en-GB" dirty="0"/>
              <a:t>Which is usually required when when developing software as most of the time we don’t want the requirements to be public.</a:t>
            </a:r>
          </a:p>
          <a:p>
            <a:pPr marL="0" indent="0">
              <a:buFont typeface="Wingdings" panose="05000000000000000000" pitchFamily="2" charset="2"/>
              <a:buNone/>
            </a:pPr>
            <a:endParaRPr lang="en-GB" dirty="0"/>
          </a:p>
          <a:p>
            <a:pPr marL="0" indent="0">
              <a:buFont typeface="Wingdings" panose="05000000000000000000" pitchFamily="2" charset="2"/>
              <a:buNone/>
            </a:pPr>
            <a:r>
              <a:rPr lang="en-GB" dirty="0"/>
              <a:t>Therefore I wanted to see whats possible with distilled models.</a:t>
            </a:r>
          </a:p>
          <a:p>
            <a:pPr marL="0" indent="0">
              <a:buFont typeface="Wingdings" panose="05000000000000000000" pitchFamily="2" charset="2"/>
              <a:buNone/>
            </a:pPr>
            <a:r>
              <a:rPr lang="en-GB" dirty="0"/>
              <a:t>To make the results comparable I used a fixed set of model parameters across distilled versions.</a:t>
            </a:r>
          </a:p>
        </p:txBody>
      </p:sp>
      <p:sp>
        <p:nvSpPr>
          <p:cNvPr id="4" name="Slide Number Placeholder 3"/>
          <p:cNvSpPr>
            <a:spLocks noGrp="1"/>
          </p:cNvSpPr>
          <p:nvPr>
            <p:ph type="sldNum" sz="quarter" idx="5"/>
          </p:nvPr>
        </p:nvSpPr>
        <p:spPr/>
        <p:txBody>
          <a:bodyPr/>
          <a:lstStyle/>
          <a:p>
            <a:fld id="{75C8DF60-03EB-41BF-AD08-E11AFAEB47A5}" type="slidenum">
              <a:rPr lang="en-AT" smtClean="0"/>
              <a:t>8</a:t>
            </a:fld>
            <a:endParaRPr lang="en-AT"/>
          </a:p>
        </p:txBody>
      </p:sp>
    </p:spTree>
    <p:extLst>
      <p:ext uri="{BB962C8B-B14F-4D97-AF65-F5344CB8AC3E}">
        <p14:creationId xmlns:p14="http://schemas.microsoft.com/office/powerpoint/2010/main" val="1271802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ID is added manually – lack ability of kepping exact count</a:t>
            </a:r>
          </a:p>
          <a:p>
            <a:endParaRPr lang="en-GB" dirty="0"/>
          </a:p>
          <a:p>
            <a:r>
              <a:rPr lang="en-GB" dirty="0"/>
              <a:t>Ollama added AMD support march 2024 but first did not check -&gt; 8B PC slow down -&gt; mine is too old (Rx 6600)</a:t>
            </a:r>
          </a:p>
          <a:p>
            <a:endParaRPr lang="en-GB" dirty="0"/>
          </a:p>
          <a:p>
            <a:r>
              <a:rPr lang="en-GB" dirty="0"/>
              <a:t>All done with CPU AMD Ryzen 5 5600x 6-core and 32 GB of RAM.</a:t>
            </a:r>
          </a:p>
          <a:p>
            <a:endParaRPr lang="en-GB" sz="1200" dirty="0"/>
          </a:p>
          <a:p>
            <a:r>
              <a:rPr lang="en-GB" sz="1200" dirty="0"/>
              <a:t>14b -&gt; CPU and Memory full PC unusable</a:t>
            </a:r>
          </a:p>
          <a:p>
            <a:endParaRPr lang="en-GB" sz="1200" dirty="0"/>
          </a:p>
          <a:p>
            <a:r>
              <a:rPr lang="en-GB" sz="1200" dirty="0"/>
              <a:t>Increased context window (</a:t>
            </a:r>
            <a:r>
              <a:rPr lang="en-GB" dirty="0"/>
              <a:t>Sets the size of the context window used to generate the next token. (Default: 2048))</a:t>
            </a:r>
            <a:endParaRPr lang="en-GB" sz="1200" dirty="0"/>
          </a:p>
          <a:p>
            <a:r>
              <a:rPr lang="en-GB" sz="1200" dirty="0"/>
              <a:t>Decreased repeat penalty (</a:t>
            </a:r>
            <a:r>
              <a:rPr lang="en-GB" dirty="0"/>
              <a:t>Sets how strongly to penalize repetitions. A higher value (e.g., 1.5) will penalize repetitions more strongly, while a lower value (e.g., 0.9) will be more lenient. (Default: 1.1))</a:t>
            </a:r>
            <a:endParaRPr lang="en-GB" sz="1200" dirty="0"/>
          </a:p>
          <a:p>
            <a:r>
              <a:rPr lang="en-GB" sz="1200" dirty="0"/>
              <a:t>Decreased top_p (</a:t>
            </a:r>
            <a:r>
              <a:rPr lang="en-GB" dirty="0"/>
              <a:t>Works together with top-k. A higher value (e.g., 0.95) will lead to more diverse text, while a lower value (e.g., 0.5) will generate more focused and conservative text. (Default: 0.9)</a:t>
            </a:r>
          </a:p>
          <a:p>
            <a:endParaRPr lang="en-GB" dirty="0"/>
          </a:p>
          <a:p>
            <a:r>
              <a:rPr lang="en-GB" dirty="0"/>
              <a:t>I expected the present tense check to not be perfect.</a:t>
            </a:r>
          </a:p>
          <a:p>
            <a:r>
              <a:rPr lang="en-GB" dirty="0"/>
              <a:t>Systematic fails were caused.</a:t>
            </a:r>
          </a:p>
          <a:p>
            <a:r>
              <a:rPr lang="en-GB" dirty="0"/>
              <a:t>Two main contributors.</a:t>
            </a:r>
          </a:p>
          <a:p>
            <a:r>
              <a:rPr lang="en-GB" dirty="0"/>
              <a:t>First when a requirement is formulated like…</a:t>
            </a:r>
          </a:p>
          <a:p>
            <a:endParaRPr lang="en-GB" dirty="0"/>
          </a:p>
          <a:p>
            <a:r>
              <a:rPr lang="en-GB" dirty="0"/>
              <a:t>Second models also sometimes like to end the test steps with ….</a:t>
            </a:r>
          </a:p>
          <a:p>
            <a:r>
              <a:rPr lang="en-GB" dirty="0"/>
              <a:t>	Verify that ….</a:t>
            </a:r>
          </a:p>
          <a:p>
            <a:endParaRPr lang="en-GB" dirty="0"/>
          </a:p>
          <a:p>
            <a:endParaRPr lang="en-GB" b="1" dirty="0"/>
          </a:p>
          <a:p>
            <a:r>
              <a:rPr lang="en-GB" sz="1200" b="0" dirty="0">
                <a:effectLst/>
                <a:latin typeface="Consolas" panose="020B0609020204030204" pitchFamily="49" charset="0"/>
              </a:rPr>
              <a:t>Verify that the selected map layer is displayed correctly.</a:t>
            </a:r>
            <a:r>
              <a:rPr lang="en-GB" b="1" dirty="0"/>
              <a:t> -&gt; Imperative sentence with present tense (passive voice)</a:t>
            </a:r>
            <a:r>
              <a:rPr lang="en-GB" dirty="0"/>
              <a:t>.</a:t>
            </a:r>
          </a:p>
          <a:p>
            <a:r>
              <a:rPr lang="en-GB" dirty="0"/>
              <a:t>	not catched by rule</a:t>
            </a:r>
          </a:p>
          <a:p>
            <a:endParaRPr lang="en-GB" dirty="0"/>
          </a:p>
          <a:p>
            <a:r>
              <a:rPr lang="en-GB" dirty="0"/>
              <a:t>Could also argue to use LLM for present tense classification, but I wanted to have little bit of control.</a:t>
            </a:r>
          </a:p>
        </p:txBody>
      </p:sp>
      <p:sp>
        <p:nvSpPr>
          <p:cNvPr id="4" name="Slide Number Placeholder 3"/>
          <p:cNvSpPr>
            <a:spLocks noGrp="1"/>
          </p:cNvSpPr>
          <p:nvPr>
            <p:ph type="sldNum" sz="quarter" idx="5"/>
          </p:nvPr>
        </p:nvSpPr>
        <p:spPr/>
        <p:txBody>
          <a:bodyPr/>
          <a:lstStyle/>
          <a:p>
            <a:fld id="{75C8DF60-03EB-41BF-AD08-E11AFAEB47A5}" type="slidenum">
              <a:rPr lang="en-AT" smtClean="0"/>
              <a:t>9</a:t>
            </a:fld>
            <a:endParaRPr lang="en-AT"/>
          </a:p>
        </p:txBody>
      </p:sp>
    </p:spTree>
    <p:extLst>
      <p:ext uri="{BB962C8B-B14F-4D97-AF65-F5344CB8AC3E}">
        <p14:creationId xmlns:p14="http://schemas.microsoft.com/office/powerpoint/2010/main" val="1503762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dirty="0"/>
          </a:p>
        </p:txBody>
      </p:sp>
      <p:sp>
        <p:nvSpPr>
          <p:cNvPr id="4" name="Slide Number Placeholder 3"/>
          <p:cNvSpPr>
            <a:spLocks noGrp="1"/>
          </p:cNvSpPr>
          <p:nvPr>
            <p:ph type="sldNum" sz="quarter" idx="5"/>
          </p:nvPr>
        </p:nvSpPr>
        <p:spPr/>
        <p:txBody>
          <a:bodyPr/>
          <a:lstStyle/>
          <a:p>
            <a:fld id="{75C8DF60-03EB-41BF-AD08-E11AFAEB47A5}" type="slidenum">
              <a:rPr lang="en-AT" smtClean="0"/>
              <a:t>10</a:t>
            </a:fld>
            <a:endParaRPr lang="en-AT"/>
          </a:p>
        </p:txBody>
      </p:sp>
    </p:spTree>
    <p:extLst>
      <p:ext uri="{BB962C8B-B14F-4D97-AF65-F5344CB8AC3E}">
        <p14:creationId xmlns:p14="http://schemas.microsoft.com/office/powerpoint/2010/main" val="484911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RE-503</a:t>
            </a:r>
          </a:p>
          <a:p>
            <a:endParaRPr lang="en-GB" dirty="0"/>
          </a:p>
        </p:txBody>
      </p:sp>
      <p:sp>
        <p:nvSpPr>
          <p:cNvPr id="4" name="Slide Number Placeholder 3"/>
          <p:cNvSpPr>
            <a:spLocks noGrp="1"/>
          </p:cNvSpPr>
          <p:nvPr>
            <p:ph type="sldNum" sz="quarter" idx="5"/>
          </p:nvPr>
        </p:nvSpPr>
        <p:spPr/>
        <p:txBody>
          <a:bodyPr/>
          <a:lstStyle/>
          <a:p>
            <a:fld id="{75C8DF60-03EB-41BF-AD08-E11AFAEB47A5}" type="slidenum">
              <a:rPr lang="en-AT" smtClean="0"/>
              <a:t>11</a:t>
            </a:fld>
            <a:endParaRPr lang="en-AT"/>
          </a:p>
        </p:txBody>
      </p:sp>
    </p:spTree>
    <p:extLst>
      <p:ext uri="{BB962C8B-B14F-4D97-AF65-F5344CB8AC3E}">
        <p14:creationId xmlns:p14="http://schemas.microsoft.com/office/powerpoint/2010/main" val="1660932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Upper bar chart shows percentage of valid entries per model and prompt variation – sorted from worse to best</a:t>
            </a:r>
          </a:p>
          <a:p>
            <a:r>
              <a:rPr lang="en-GB" b="0" dirty="0"/>
              <a:t>So including all field checks, if any single field check fails it is counted as an invalid entry.</a:t>
            </a:r>
          </a:p>
          <a:p>
            <a:endParaRPr lang="en-GB" b="0" dirty="0"/>
          </a:p>
          <a:p>
            <a:r>
              <a:rPr lang="en-GB" b="0" dirty="0"/>
              <a:t>Lower bar chart shows number of valid entries per model and prompt variation</a:t>
            </a:r>
          </a:p>
          <a:p>
            <a:r>
              <a:rPr lang="en-GB" b="0" dirty="0"/>
              <a:t>Only from a json template point of view. Valid entry here means the model was able to generate the expected json template.</a:t>
            </a:r>
          </a:p>
          <a:p>
            <a:endParaRPr lang="en-GB" b="0" dirty="0"/>
          </a:p>
          <a:p>
            <a:r>
              <a:rPr lang="en-GB" b="0" dirty="0"/>
              <a:t>Trend that Json entry validity increases with model size.</a:t>
            </a:r>
          </a:p>
          <a:p>
            <a:r>
              <a:rPr lang="en-GB" b="0" dirty="0"/>
              <a:t>But field quality from rules already good for 7/8 b models, although the actual coverage of the test description is likely to be still better with bigger model.</a:t>
            </a:r>
          </a:p>
          <a:p>
            <a:endParaRPr lang="en-GB" b="0" dirty="0"/>
          </a:p>
        </p:txBody>
      </p:sp>
      <p:sp>
        <p:nvSpPr>
          <p:cNvPr id="4" name="Slide Number Placeholder 3"/>
          <p:cNvSpPr>
            <a:spLocks noGrp="1"/>
          </p:cNvSpPr>
          <p:nvPr>
            <p:ph type="sldNum" sz="quarter" idx="5"/>
          </p:nvPr>
        </p:nvSpPr>
        <p:spPr/>
        <p:txBody>
          <a:bodyPr/>
          <a:lstStyle/>
          <a:p>
            <a:fld id="{75C8DF60-03EB-41BF-AD08-E11AFAEB47A5}" type="slidenum">
              <a:rPr lang="en-AT" smtClean="0"/>
              <a:t>12</a:t>
            </a:fld>
            <a:endParaRPr lang="en-AT"/>
          </a:p>
        </p:txBody>
      </p:sp>
    </p:spTree>
    <p:extLst>
      <p:ext uri="{BB962C8B-B14F-4D97-AF65-F5344CB8AC3E}">
        <p14:creationId xmlns:p14="http://schemas.microsoft.com/office/powerpoint/2010/main" val="4061238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30FB1-8E47-85F2-CF8A-538624B30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7DF9A-89D2-0EE6-5822-E92798831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4EAD9-D1DF-FC35-C065-9A6F79BFDBE1}"/>
              </a:ext>
            </a:extLst>
          </p:cNvPr>
          <p:cNvSpPr>
            <a:spLocks noGrp="1"/>
          </p:cNvSpPr>
          <p:nvPr>
            <p:ph type="body" idx="1"/>
          </p:nvPr>
        </p:nvSpPr>
        <p:spPr/>
        <p:txBody>
          <a:bodyPr/>
          <a:lstStyle/>
          <a:p>
            <a:r>
              <a:rPr lang="en-GB" b="0"/>
              <a:t>To conclude …..</a:t>
            </a:r>
            <a:endParaRPr lang="en-GB" b="0" dirty="0"/>
          </a:p>
        </p:txBody>
      </p:sp>
      <p:sp>
        <p:nvSpPr>
          <p:cNvPr id="4" name="Slide Number Placeholder 3">
            <a:extLst>
              <a:ext uri="{FF2B5EF4-FFF2-40B4-BE49-F238E27FC236}">
                <a16:creationId xmlns:a16="http://schemas.microsoft.com/office/drawing/2014/main" id="{A471498F-773C-52EB-5319-AC8D23EF2937}"/>
              </a:ext>
            </a:extLst>
          </p:cNvPr>
          <p:cNvSpPr>
            <a:spLocks noGrp="1"/>
          </p:cNvSpPr>
          <p:nvPr>
            <p:ph type="sldNum" sz="quarter" idx="5"/>
          </p:nvPr>
        </p:nvSpPr>
        <p:spPr/>
        <p:txBody>
          <a:bodyPr/>
          <a:lstStyle/>
          <a:p>
            <a:fld id="{75C8DF60-03EB-41BF-AD08-E11AFAEB47A5}" type="slidenum">
              <a:rPr lang="en-AT" smtClean="0"/>
              <a:t>13</a:t>
            </a:fld>
            <a:endParaRPr lang="en-AT"/>
          </a:p>
        </p:txBody>
      </p:sp>
    </p:spTree>
    <p:extLst>
      <p:ext uri="{BB962C8B-B14F-4D97-AF65-F5344CB8AC3E}">
        <p14:creationId xmlns:p14="http://schemas.microsoft.com/office/powerpoint/2010/main" val="3192088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dirty="0"/>
          </a:p>
        </p:txBody>
      </p:sp>
      <p:sp>
        <p:nvSpPr>
          <p:cNvPr id="4" name="Slide Number Placeholder 3"/>
          <p:cNvSpPr>
            <a:spLocks noGrp="1"/>
          </p:cNvSpPr>
          <p:nvPr>
            <p:ph type="sldNum" sz="quarter" idx="5"/>
          </p:nvPr>
        </p:nvSpPr>
        <p:spPr/>
        <p:txBody>
          <a:bodyPr/>
          <a:lstStyle/>
          <a:p>
            <a:fld id="{75C8DF60-03EB-41BF-AD08-E11AFAEB47A5}" type="slidenum">
              <a:rPr lang="en-AT" smtClean="0"/>
              <a:t>14</a:t>
            </a:fld>
            <a:endParaRPr lang="en-AT"/>
          </a:p>
        </p:txBody>
      </p:sp>
    </p:spTree>
    <p:extLst>
      <p:ext uri="{BB962C8B-B14F-4D97-AF65-F5344CB8AC3E}">
        <p14:creationId xmlns:p14="http://schemas.microsoft.com/office/powerpoint/2010/main" val="1324648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0BFEE2-3EAA-4386-9A3C-82D92E479C9F}" type="datetimeFigureOut">
              <a:rPr lang="en-AT" smtClean="0"/>
              <a:t>03/06/2025</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3581479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0BFEE2-3EAA-4386-9A3C-82D92E479C9F}" type="datetimeFigureOut">
              <a:rPr lang="en-AT" smtClean="0"/>
              <a:t>03/06/2025</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3637823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0BFEE2-3EAA-4386-9A3C-82D92E479C9F}" type="datetimeFigureOut">
              <a:rPr lang="en-AT" smtClean="0"/>
              <a:t>03/06/2025</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2576382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0BFEE2-3EAA-4386-9A3C-82D92E479C9F}" type="datetimeFigureOut">
              <a:rPr lang="en-AT" smtClean="0"/>
              <a:t>03/06/2025</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1584588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0BFEE2-3EAA-4386-9A3C-82D92E479C9F}" type="datetimeFigureOut">
              <a:rPr lang="en-AT" smtClean="0"/>
              <a:t>03/06/2025</a:t>
            </a:fld>
            <a:endParaRPr lang="en-AT"/>
          </a:p>
        </p:txBody>
      </p:sp>
      <p:sp>
        <p:nvSpPr>
          <p:cNvPr id="8" name="Footer Placeholder 7"/>
          <p:cNvSpPr>
            <a:spLocks noGrp="1"/>
          </p:cNvSpPr>
          <p:nvPr>
            <p:ph type="ftr" sz="quarter" idx="11"/>
          </p:nvPr>
        </p:nvSpPr>
        <p:spPr/>
        <p:txBody>
          <a:bodyPr/>
          <a:lstStyle/>
          <a:p>
            <a:endParaRPr lang="en-AT"/>
          </a:p>
        </p:txBody>
      </p:sp>
      <p:sp>
        <p:nvSpPr>
          <p:cNvPr id="9" name="Slide Number Placeholder 8"/>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2384652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0BFEE2-3EAA-4386-9A3C-82D92E479C9F}" type="datetimeFigureOut">
              <a:rPr lang="en-AT" smtClean="0"/>
              <a:t>03/06/2025</a:t>
            </a:fld>
            <a:endParaRPr lang="en-AT"/>
          </a:p>
        </p:txBody>
      </p:sp>
      <p:sp>
        <p:nvSpPr>
          <p:cNvPr id="4" name="Footer Placeholder 3"/>
          <p:cNvSpPr>
            <a:spLocks noGrp="1"/>
          </p:cNvSpPr>
          <p:nvPr>
            <p:ph type="ftr" sz="quarter" idx="11"/>
          </p:nvPr>
        </p:nvSpPr>
        <p:spPr/>
        <p:txBody>
          <a:bodyPr/>
          <a:lstStyle/>
          <a:p>
            <a:endParaRPr lang="en-AT"/>
          </a:p>
        </p:txBody>
      </p:sp>
      <p:sp>
        <p:nvSpPr>
          <p:cNvPr id="5" name="Slide Number Placeholder 4"/>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3254587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0BFEE2-3EAA-4386-9A3C-82D92E479C9F}" type="datetimeFigureOut">
              <a:rPr lang="en-AT" smtClean="0"/>
              <a:t>03/06/2025</a:t>
            </a:fld>
            <a:endParaRPr lang="en-AT"/>
          </a:p>
        </p:txBody>
      </p:sp>
      <p:sp>
        <p:nvSpPr>
          <p:cNvPr id="3" name="Footer Placeholder 2"/>
          <p:cNvSpPr>
            <a:spLocks noGrp="1"/>
          </p:cNvSpPr>
          <p:nvPr>
            <p:ph type="ftr" sz="quarter" idx="11"/>
          </p:nvPr>
        </p:nvSpPr>
        <p:spPr/>
        <p:txBody>
          <a:bodyPr/>
          <a:lstStyle/>
          <a:p>
            <a:endParaRPr lang="en-AT"/>
          </a:p>
        </p:txBody>
      </p:sp>
      <p:sp>
        <p:nvSpPr>
          <p:cNvPr id="4" name="Slide Number Placeholder 3"/>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235320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0BFEE2-3EAA-4386-9A3C-82D92E479C9F}" type="datetimeFigureOut">
              <a:rPr lang="en-AT" smtClean="0"/>
              <a:t>03/06/2025</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2348447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0BFEE2-3EAA-4386-9A3C-82D92E479C9F}" type="datetimeFigureOut">
              <a:rPr lang="en-AT" smtClean="0"/>
              <a:t>03/06/2025</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2059749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0BFEE2-3EAA-4386-9A3C-82D92E479C9F}" type="datetimeFigureOut">
              <a:rPr lang="en-AT" smtClean="0"/>
              <a:t>03/06/2025</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2952311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0BFEE2-3EAA-4386-9A3C-82D92E479C9F}" type="datetimeFigureOut">
              <a:rPr lang="en-AT" smtClean="0"/>
              <a:t>03/06/2025</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553428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0BFEE2-3EAA-4386-9A3C-82D92E479C9F}" type="datetimeFigureOut">
              <a:rPr lang="en-AT" smtClean="0"/>
              <a:t>03/06/2025</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B904703A-CFDD-4AAA-8704-932920003468}" type="slidenum">
              <a:rPr lang="en-AT" smtClean="0"/>
              <a:t>‹#›</a:t>
            </a:fld>
            <a:endParaRPr lang="en-AT"/>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79072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0BFEE2-3EAA-4386-9A3C-82D92E479C9F}" type="datetimeFigureOut">
              <a:rPr lang="en-AT" smtClean="0"/>
              <a:t>03/06/2025</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3061841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0BFEE2-3EAA-4386-9A3C-82D92E479C9F}" type="datetimeFigureOut">
              <a:rPr lang="en-AT" smtClean="0"/>
              <a:t>03/06/2025</a:t>
            </a:fld>
            <a:endParaRPr lang="en-AT"/>
          </a:p>
        </p:txBody>
      </p:sp>
      <p:sp>
        <p:nvSpPr>
          <p:cNvPr id="4" name="Footer Placeholder 3"/>
          <p:cNvSpPr>
            <a:spLocks noGrp="1"/>
          </p:cNvSpPr>
          <p:nvPr>
            <p:ph type="ftr" sz="quarter" idx="11"/>
          </p:nvPr>
        </p:nvSpPr>
        <p:spPr/>
        <p:txBody>
          <a:bodyPr/>
          <a:lstStyle/>
          <a:p>
            <a:endParaRPr lang="en-AT"/>
          </a:p>
        </p:txBody>
      </p:sp>
      <p:sp>
        <p:nvSpPr>
          <p:cNvPr id="5" name="Slide Number Placeholder 4"/>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934462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0BFEE2-3EAA-4386-9A3C-82D92E479C9F}" type="datetimeFigureOut">
              <a:rPr lang="en-AT" smtClean="0"/>
              <a:t>03/06/2025</a:t>
            </a:fld>
            <a:endParaRPr lang="en-AT"/>
          </a:p>
        </p:txBody>
      </p:sp>
      <p:sp>
        <p:nvSpPr>
          <p:cNvPr id="4" name="Footer Placeholder 3"/>
          <p:cNvSpPr>
            <a:spLocks noGrp="1"/>
          </p:cNvSpPr>
          <p:nvPr>
            <p:ph type="ftr" sz="quarter" idx="11"/>
          </p:nvPr>
        </p:nvSpPr>
        <p:spPr/>
        <p:txBody>
          <a:bodyPr/>
          <a:lstStyle/>
          <a:p>
            <a:endParaRPr lang="en-AT"/>
          </a:p>
        </p:txBody>
      </p:sp>
      <p:sp>
        <p:nvSpPr>
          <p:cNvPr id="5" name="Slide Number Placeholder 4"/>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1487833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0BFEE2-3EAA-4386-9A3C-82D92E479C9F}" type="datetimeFigureOut">
              <a:rPr lang="en-AT" smtClean="0"/>
              <a:t>03/06/2025</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13675061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0BFEE2-3EAA-4386-9A3C-82D92E479C9F}" type="datetimeFigureOut">
              <a:rPr lang="en-AT" smtClean="0"/>
              <a:t>03/06/2025</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B904703A-CFDD-4AAA-8704-932920003468}" type="slidenum">
              <a:rPr lang="en-AT" smtClean="0"/>
              <a:t>‹#›</a:t>
            </a:fld>
            <a:endParaRPr lang="en-AT"/>
          </a:p>
        </p:txBody>
      </p:sp>
    </p:spTree>
    <p:extLst>
      <p:ext uri="{BB962C8B-B14F-4D97-AF65-F5344CB8AC3E}">
        <p14:creationId xmlns:p14="http://schemas.microsoft.com/office/powerpoint/2010/main" val="2441763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D0BFEE2-3EAA-4386-9A3C-82D92E479C9F}" type="datetimeFigureOut">
              <a:rPr lang="en-AT" smtClean="0"/>
              <a:t>03/06/2025</a:t>
            </a:fld>
            <a:endParaRPr lang="en-AT"/>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AT"/>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904703A-CFDD-4AAA-8704-932920003468}" type="slidenum">
              <a:rPr lang="en-AT" smtClean="0"/>
              <a:t>‹#›</a:t>
            </a:fld>
            <a:endParaRPr lang="en-AT"/>
          </a:p>
        </p:txBody>
      </p:sp>
    </p:spTree>
    <p:extLst>
      <p:ext uri="{BB962C8B-B14F-4D97-AF65-F5344CB8AC3E}">
        <p14:creationId xmlns:p14="http://schemas.microsoft.com/office/powerpoint/2010/main" val="1126723784"/>
      </p:ext>
    </p:extLst>
  </p:cSld>
  <p:clrMap bg1="dk1" tx1="lt1" bg2="dk2" tx2="lt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73AE9-0814-0447-863E-3B7A732241C5}"/>
              </a:ext>
            </a:extLst>
          </p:cNvPr>
          <p:cNvSpPr>
            <a:spLocks noGrp="1"/>
          </p:cNvSpPr>
          <p:nvPr>
            <p:ph type="ctrTitle"/>
          </p:nvPr>
        </p:nvSpPr>
        <p:spPr>
          <a:xfrm>
            <a:off x="838199" y="1093788"/>
            <a:ext cx="10506455" cy="2967208"/>
          </a:xfrm>
        </p:spPr>
        <p:txBody>
          <a:bodyPr>
            <a:normAutofit fontScale="90000"/>
          </a:bodyPr>
          <a:lstStyle/>
          <a:p>
            <a:pPr algn="l"/>
            <a:r>
              <a:rPr lang="en-GB" sz="5000" dirty="0">
                <a:latin typeface="Consolas" panose="020B0609020204030204" pitchFamily="49" charset="0"/>
              </a:rPr>
              <a:t>Feasibility of Using Large Language Models for Requirement-Based Software Testing</a:t>
            </a:r>
            <a:endParaRPr lang="en-AT" sz="5000" dirty="0">
              <a:latin typeface="Consolas" panose="020B0609020204030204" pitchFamily="49" charset="0"/>
            </a:endParaRPr>
          </a:p>
        </p:txBody>
      </p:sp>
      <p:sp>
        <p:nvSpPr>
          <p:cNvPr id="3" name="Subtitle 2">
            <a:extLst>
              <a:ext uri="{FF2B5EF4-FFF2-40B4-BE49-F238E27FC236}">
                <a16:creationId xmlns:a16="http://schemas.microsoft.com/office/drawing/2014/main" id="{FA521879-9308-9335-47EA-0736DC4C185C}"/>
              </a:ext>
            </a:extLst>
          </p:cNvPr>
          <p:cNvSpPr>
            <a:spLocks noGrp="1"/>
          </p:cNvSpPr>
          <p:nvPr>
            <p:ph type="subTitle" idx="1"/>
          </p:nvPr>
        </p:nvSpPr>
        <p:spPr>
          <a:xfrm>
            <a:off x="7400924" y="4619624"/>
            <a:ext cx="3946779" cy="1038225"/>
          </a:xfrm>
        </p:spPr>
        <p:txBody>
          <a:bodyPr>
            <a:normAutofit/>
          </a:bodyPr>
          <a:lstStyle/>
          <a:p>
            <a:pPr algn="r"/>
            <a:r>
              <a:rPr lang="en-GB" dirty="0"/>
              <a:t>Alexander Seyr</a:t>
            </a:r>
          </a:p>
          <a:p>
            <a:pPr algn="r"/>
            <a:endParaRPr lang="en-AT" dirty="0"/>
          </a:p>
        </p:txBody>
      </p:sp>
    </p:spTree>
    <p:extLst>
      <p:ext uri="{BB962C8B-B14F-4D97-AF65-F5344CB8AC3E}">
        <p14:creationId xmlns:p14="http://schemas.microsoft.com/office/powerpoint/2010/main" val="95471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496E1-87AF-7CFC-576B-A6B8AB0AC835}"/>
              </a:ext>
            </a:extLst>
          </p:cNvPr>
          <p:cNvSpPr>
            <a:spLocks noGrp="1"/>
          </p:cNvSpPr>
          <p:nvPr>
            <p:ph type="title"/>
          </p:nvPr>
        </p:nvSpPr>
        <p:spPr/>
        <p:txBody>
          <a:bodyPr/>
          <a:lstStyle/>
          <a:p>
            <a:pPr algn="l"/>
            <a:r>
              <a:rPr lang="en-GB" dirty="0">
                <a:latin typeface="Consolas" panose="020B0609020204030204" pitchFamily="49" charset="0"/>
              </a:rPr>
              <a:t>Software testing overview</a:t>
            </a:r>
          </a:p>
        </p:txBody>
      </p:sp>
      <p:sp>
        <p:nvSpPr>
          <p:cNvPr id="13" name="TextBox 12">
            <a:extLst>
              <a:ext uri="{FF2B5EF4-FFF2-40B4-BE49-F238E27FC236}">
                <a16:creationId xmlns:a16="http://schemas.microsoft.com/office/drawing/2014/main" id="{78CE8F74-228B-5190-E3BA-8AB0137B8EBF}"/>
              </a:ext>
            </a:extLst>
          </p:cNvPr>
          <p:cNvSpPr txBox="1"/>
          <p:nvPr/>
        </p:nvSpPr>
        <p:spPr>
          <a:xfrm>
            <a:off x="1295400" y="6457754"/>
            <a:ext cx="10625255" cy="415498"/>
          </a:xfrm>
          <a:prstGeom prst="rect">
            <a:avLst/>
          </a:prstGeom>
          <a:noFill/>
        </p:spPr>
        <p:txBody>
          <a:bodyPr wrap="square">
            <a:spAutoFit/>
          </a:bodyPr>
          <a:lstStyle/>
          <a:p>
            <a:r>
              <a:rPr lang="en-GB" sz="700" b="0" i="0" u="none" strike="noStrike" dirty="0">
                <a:solidFill>
                  <a:srgbClr val="7D8591"/>
                </a:solidFill>
                <a:effectLst/>
                <a:latin typeface="Arial" panose="020B0604020202020204" pitchFamily="34" charset="0"/>
              </a:rPr>
              <a:t>Wang, Junjie / Huang, Yuchao / Chen, Chunyang / Liu, Zhe / Wang, Song / Wang, Qing, </a:t>
            </a:r>
            <a:r>
              <a:rPr lang="en-GB" sz="700" b="1" i="0" u="none" strike="noStrike" dirty="0">
                <a:solidFill>
                  <a:srgbClr val="7D8591"/>
                </a:solidFill>
                <a:effectLst/>
                <a:latin typeface="Arial" panose="020B0604020202020204" pitchFamily="34" charset="0"/>
              </a:rPr>
              <a:t>Software testing with large language models: Survey, landscape, and vision </a:t>
            </a:r>
            <a:r>
              <a:rPr lang="en-GB" sz="700" b="0" i="0" u="none" strike="noStrike" dirty="0">
                <a:solidFill>
                  <a:srgbClr val="7D8591"/>
                </a:solidFill>
                <a:effectLst/>
                <a:latin typeface="Arial" panose="020B0604020202020204" pitchFamily="34" charset="0"/>
              </a:rPr>
              <a:t>2024 </a:t>
            </a:r>
            <a:r>
              <a:rPr lang="en-GB" sz="700" b="0" i="1" u="none" strike="noStrike" dirty="0">
                <a:solidFill>
                  <a:srgbClr val="7D8591"/>
                </a:solidFill>
                <a:effectLst/>
                <a:latin typeface="Arial" panose="020B0604020202020204" pitchFamily="34" charset="0"/>
              </a:rPr>
              <a:t>IEEE Transactions on Software Engineering</a:t>
            </a:r>
          </a:p>
          <a:p>
            <a:r>
              <a:rPr lang="en-GB" sz="700" b="0" i="0" u="none" strike="noStrike" dirty="0">
                <a:solidFill>
                  <a:srgbClr val="7D8591"/>
                </a:solidFill>
                <a:effectLst/>
                <a:latin typeface="Arial" panose="020B0604020202020204" pitchFamily="34" charset="0"/>
              </a:rPr>
              <a:t>Anwar, Nahid / Kar, Susmita, </a:t>
            </a:r>
            <a:r>
              <a:rPr lang="en-GB" sz="700" b="1" i="0" u="none" strike="noStrike" dirty="0">
                <a:solidFill>
                  <a:srgbClr val="7D8591"/>
                </a:solidFill>
                <a:effectLst/>
                <a:latin typeface="Arial" panose="020B0604020202020204" pitchFamily="34" charset="0"/>
              </a:rPr>
              <a:t>Review paper on various software testing techniques &amp;amp; strategies, </a:t>
            </a:r>
            <a:r>
              <a:rPr lang="en-GB" sz="700" b="0" i="0" u="none" strike="noStrike" dirty="0">
                <a:solidFill>
                  <a:srgbClr val="7D8591"/>
                </a:solidFill>
                <a:effectLst/>
                <a:latin typeface="Arial" panose="020B0604020202020204" pitchFamily="34" charset="0"/>
              </a:rPr>
              <a:t>2019, </a:t>
            </a:r>
            <a:r>
              <a:rPr lang="en-GB" sz="700" b="0" i="1" u="none" strike="noStrike" dirty="0">
                <a:solidFill>
                  <a:srgbClr val="7D8591"/>
                </a:solidFill>
                <a:effectLst/>
                <a:latin typeface="Arial" panose="020B0604020202020204" pitchFamily="34" charset="0"/>
              </a:rPr>
              <a:t>Global Journal of Computer Science and Technology</a:t>
            </a:r>
            <a:r>
              <a:rPr lang="en-GB" sz="700" b="0" i="0" u="none" strike="noStrike" dirty="0">
                <a:solidFill>
                  <a:srgbClr val="7D8591"/>
                </a:solidFill>
                <a:effectLst/>
                <a:latin typeface="Arial" panose="020B0604020202020204" pitchFamily="34" charset="0"/>
              </a:rPr>
              <a:t> , Vol. 19, No. 2 p. 43-49</a:t>
            </a:r>
            <a:endParaRPr lang="en-AT" sz="700" dirty="0"/>
          </a:p>
          <a:p>
            <a:endParaRPr lang="en-AT" sz="700" dirty="0"/>
          </a:p>
        </p:txBody>
      </p:sp>
      <p:pic>
        <p:nvPicPr>
          <p:cNvPr id="7" name="Picture 6">
            <a:extLst>
              <a:ext uri="{FF2B5EF4-FFF2-40B4-BE49-F238E27FC236}">
                <a16:creationId xmlns:a16="http://schemas.microsoft.com/office/drawing/2014/main" id="{8F93D3F5-F7D5-1320-E7E5-70F89E3F743B}"/>
              </a:ext>
            </a:extLst>
          </p:cNvPr>
          <p:cNvPicPr>
            <a:picLocks noChangeAspect="1"/>
          </p:cNvPicPr>
          <p:nvPr/>
        </p:nvPicPr>
        <p:blipFill>
          <a:blip r:embed="rId3"/>
          <a:stretch>
            <a:fillRect/>
          </a:stretch>
        </p:blipFill>
        <p:spPr>
          <a:xfrm>
            <a:off x="5890260" y="2290322"/>
            <a:ext cx="6114215" cy="3555153"/>
          </a:xfrm>
          <a:prstGeom prst="rect">
            <a:avLst/>
          </a:prstGeom>
        </p:spPr>
      </p:pic>
      <p:sp>
        <p:nvSpPr>
          <p:cNvPr id="4" name="Content Placeholder 2">
            <a:extLst>
              <a:ext uri="{FF2B5EF4-FFF2-40B4-BE49-F238E27FC236}">
                <a16:creationId xmlns:a16="http://schemas.microsoft.com/office/drawing/2014/main" id="{BE5006CE-F9F7-A39C-217C-2E4255995144}"/>
              </a:ext>
            </a:extLst>
          </p:cNvPr>
          <p:cNvSpPr>
            <a:spLocks noGrp="1"/>
          </p:cNvSpPr>
          <p:nvPr>
            <p:ph idx="1"/>
          </p:nvPr>
        </p:nvSpPr>
        <p:spPr>
          <a:xfrm>
            <a:off x="632460" y="1810506"/>
            <a:ext cx="10515600" cy="3728830"/>
          </a:xfrm>
        </p:spPr>
        <p:txBody>
          <a:bodyPr>
            <a:normAutofit lnSpcReduction="10000"/>
          </a:bodyPr>
          <a:lstStyle/>
          <a:p>
            <a:r>
              <a:rPr lang="en-GB" dirty="0">
                <a:latin typeface="Consolas" panose="020B0609020204030204" pitchFamily="49" charset="0"/>
              </a:rPr>
              <a:t>Quality assurance through testing</a:t>
            </a:r>
          </a:p>
          <a:p>
            <a:pPr marL="36900" indent="0">
              <a:buNone/>
            </a:pPr>
            <a:endParaRPr lang="en-GB" dirty="0"/>
          </a:p>
          <a:p>
            <a:r>
              <a:rPr lang="en-GB" dirty="0"/>
              <a:t>In practive a lot of manual labor</a:t>
            </a:r>
          </a:p>
          <a:p>
            <a:endParaRPr lang="en-GB" dirty="0"/>
          </a:p>
          <a:p>
            <a:r>
              <a:rPr lang="en-GB" dirty="0"/>
              <a:t>Strategies</a:t>
            </a:r>
          </a:p>
          <a:p>
            <a:pPr lvl="1"/>
            <a:r>
              <a:rPr lang="en-GB" dirty="0">
                <a:latin typeface="Consolas" panose="020B0609020204030204" pitchFamily="49" charset="0"/>
              </a:rPr>
              <a:t>Unit testing</a:t>
            </a:r>
            <a:endParaRPr lang="en-GB" sz="1400" dirty="0">
              <a:latin typeface="Consolas" panose="020B0609020204030204" pitchFamily="49" charset="0"/>
            </a:endParaRPr>
          </a:p>
          <a:p>
            <a:pPr lvl="1"/>
            <a:r>
              <a:rPr lang="en-GB" dirty="0">
                <a:latin typeface="Consolas" panose="020B0609020204030204" pitchFamily="49" charset="0"/>
              </a:rPr>
              <a:t>Integration testing</a:t>
            </a:r>
          </a:p>
          <a:p>
            <a:pPr lvl="1"/>
            <a:r>
              <a:rPr lang="en-GB" dirty="0">
                <a:latin typeface="Consolas" panose="020B0609020204030204" pitchFamily="49" charset="0"/>
              </a:rPr>
              <a:t>Acceptance/Validation testing</a:t>
            </a:r>
          </a:p>
          <a:p>
            <a:pPr lvl="1"/>
            <a:r>
              <a:rPr lang="en-GB" dirty="0">
                <a:latin typeface="Consolas" panose="020B0609020204030204" pitchFamily="49" charset="0"/>
              </a:rPr>
              <a:t>System testing</a:t>
            </a:r>
          </a:p>
          <a:p>
            <a:pPr lvl="1"/>
            <a:endParaRPr lang="en-GB" dirty="0"/>
          </a:p>
          <a:p>
            <a:endParaRPr lang="en-GB" dirty="0"/>
          </a:p>
        </p:txBody>
      </p:sp>
      <p:sp>
        <p:nvSpPr>
          <p:cNvPr id="5" name="Content Placeholder 2">
            <a:extLst>
              <a:ext uri="{FF2B5EF4-FFF2-40B4-BE49-F238E27FC236}">
                <a16:creationId xmlns:a16="http://schemas.microsoft.com/office/drawing/2014/main" id="{33AF0E93-7BB0-EA34-D60C-AF0DF45FF03B}"/>
              </a:ext>
            </a:extLst>
          </p:cNvPr>
          <p:cNvSpPr txBox="1">
            <a:spLocks/>
          </p:cNvSpPr>
          <p:nvPr/>
        </p:nvSpPr>
        <p:spPr>
          <a:xfrm>
            <a:off x="6870917" y="5881845"/>
            <a:ext cx="4152900" cy="233400"/>
          </a:xfrm>
          <a:prstGeom prst="rect">
            <a:avLst/>
          </a:prstGeom>
          <a:effectLst>
            <a:outerShdw blurRad="25400" dir="17880000">
              <a:srgbClr val="000000">
                <a:alpha val="46000"/>
              </a:srgbClr>
            </a:outerShdw>
          </a:effectLst>
        </p:spPr>
        <p:txBody>
          <a:bodyPr vert="horz" lIns="91440" tIns="45720" rIns="91440" bIns="45720" rtlCol="0" anchor="t">
            <a:normAutofit fontScale="55000" lnSpcReduction="2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GB" dirty="0"/>
              <a:t>Mapping between testing tasks and how LLMs are used</a:t>
            </a:r>
            <a:endParaRPr lang="en-AT" dirty="0"/>
          </a:p>
        </p:txBody>
      </p:sp>
    </p:spTree>
    <p:extLst>
      <p:ext uri="{BB962C8B-B14F-4D97-AF65-F5344CB8AC3E}">
        <p14:creationId xmlns:p14="http://schemas.microsoft.com/office/powerpoint/2010/main" val="1426877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F2D71-438D-DFA0-9F13-C5FC5247325D}"/>
              </a:ext>
            </a:extLst>
          </p:cNvPr>
          <p:cNvSpPr>
            <a:spLocks noGrp="1"/>
          </p:cNvSpPr>
          <p:nvPr>
            <p:ph type="title"/>
          </p:nvPr>
        </p:nvSpPr>
        <p:spPr>
          <a:xfrm>
            <a:off x="800724" y="402601"/>
            <a:ext cx="10515600" cy="1325563"/>
          </a:xfrm>
        </p:spPr>
        <p:txBody>
          <a:bodyPr/>
          <a:lstStyle/>
          <a:p>
            <a:pPr algn="l"/>
            <a:r>
              <a:rPr lang="en-GB" dirty="0">
                <a:latin typeface="Consolas" panose="020B0609020204030204" pitchFamily="49" charset="0"/>
              </a:rPr>
              <a:t>Focus of this study – </a:t>
            </a:r>
            <a:br>
              <a:rPr lang="en-GB" dirty="0">
                <a:latin typeface="Consolas" panose="020B0609020204030204" pitchFamily="49" charset="0"/>
              </a:rPr>
            </a:br>
            <a:r>
              <a:rPr lang="en-GB" dirty="0">
                <a:latin typeface="Consolas" panose="020B0609020204030204" pitchFamily="49" charset="0"/>
              </a:rPr>
              <a:t>Acceptance Testing</a:t>
            </a:r>
            <a:endParaRPr lang="en-AT" dirty="0">
              <a:latin typeface="Consolas" panose="020B0609020204030204" pitchFamily="49" charset="0"/>
            </a:endParaRPr>
          </a:p>
        </p:txBody>
      </p:sp>
      <p:sp>
        <p:nvSpPr>
          <p:cNvPr id="4" name="Content Placeholder 2">
            <a:extLst>
              <a:ext uri="{FF2B5EF4-FFF2-40B4-BE49-F238E27FC236}">
                <a16:creationId xmlns:a16="http://schemas.microsoft.com/office/drawing/2014/main" id="{883C6131-AD2C-2511-3E29-8773C5DB885F}"/>
              </a:ext>
            </a:extLst>
          </p:cNvPr>
          <p:cNvSpPr txBox="1">
            <a:spLocks/>
          </p:cNvSpPr>
          <p:nvPr/>
        </p:nvSpPr>
        <p:spPr>
          <a:xfrm>
            <a:off x="756274" y="199645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dirty="0">
              <a:latin typeface="Consolas" panose="020B0609020204030204" pitchFamily="49" charset="0"/>
            </a:endParaRPr>
          </a:p>
        </p:txBody>
      </p:sp>
      <p:sp>
        <p:nvSpPr>
          <p:cNvPr id="5" name="Content Placeholder 2">
            <a:extLst>
              <a:ext uri="{FF2B5EF4-FFF2-40B4-BE49-F238E27FC236}">
                <a16:creationId xmlns:a16="http://schemas.microsoft.com/office/drawing/2014/main" id="{792CF4CB-6E66-0719-4475-DDBC347B8036}"/>
              </a:ext>
            </a:extLst>
          </p:cNvPr>
          <p:cNvSpPr txBox="1">
            <a:spLocks/>
          </p:cNvSpPr>
          <p:nvPr/>
        </p:nvSpPr>
        <p:spPr>
          <a:xfrm>
            <a:off x="756274" y="210406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rPr>
              <a:t>Are requirements fullfilled?</a:t>
            </a:r>
          </a:p>
          <a:p>
            <a:pPr marL="0" indent="0">
              <a:buNone/>
            </a:pPr>
            <a:endParaRPr lang="en-GB"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endParaRPr>
          </a:p>
          <a:p>
            <a:pPr marL="0" indent="0">
              <a:buNone/>
            </a:pPr>
            <a:r>
              <a:rPr lang="en-GB"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rPr>
              <a:t>How capable are LLM’s in:</a:t>
            </a:r>
          </a:p>
          <a:p>
            <a:pPr marL="457200" lvl="1" indent="0">
              <a:buNone/>
            </a:pPr>
            <a:endParaRPr lang="en-GB"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endParaRPr>
          </a:p>
          <a:p>
            <a:pPr marL="457200" lvl="1" indent="0">
              <a:buNone/>
            </a:pPr>
            <a:r>
              <a:rPr lang="en-GB"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rPr>
              <a:t>Understanding requirements in technical domain?</a:t>
            </a:r>
          </a:p>
          <a:p>
            <a:pPr marL="457200" lvl="1" indent="0">
              <a:buNone/>
            </a:pPr>
            <a:endParaRPr lang="en-GB"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endParaRPr>
          </a:p>
          <a:p>
            <a:pPr marL="457200" lvl="1" indent="0">
              <a:buNone/>
            </a:pPr>
            <a:r>
              <a:rPr lang="en-GB"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rPr>
              <a:t>Deriving test descriptions from requirements?</a:t>
            </a:r>
          </a:p>
          <a:p>
            <a:pPr marL="0" indent="0">
              <a:buNone/>
            </a:pPr>
            <a:endParaRPr lang="en-GB"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endParaRPr>
          </a:p>
          <a:p>
            <a:pPr marL="0" indent="0">
              <a:buNone/>
            </a:pPr>
            <a:r>
              <a:rPr lang="en-GB"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rPr>
              <a:t>Is there potential for automation?</a:t>
            </a:r>
          </a:p>
        </p:txBody>
      </p:sp>
      <p:pic>
        <p:nvPicPr>
          <p:cNvPr id="12" name="Picture 11" descr="A diagram of a software process&#10;&#10;AI-generated content may be incorrect.">
            <a:extLst>
              <a:ext uri="{FF2B5EF4-FFF2-40B4-BE49-F238E27FC236}">
                <a16:creationId xmlns:a16="http://schemas.microsoft.com/office/drawing/2014/main" id="{8668134D-364E-A501-4C35-C07E89BAF2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1147" y="107014"/>
            <a:ext cx="3173584" cy="5121565"/>
          </a:xfrm>
          <a:prstGeom prst="rect">
            <a:avLst/>
          </a:prstGeom>
        </p:spPr>
      </p:pic>
    </p:spTree>
    <p:extLst>
      <p:ext uri="{BB962C8B-B14F-4D97-AF65-F5344CB8AC3E}">
        <p14:creationId xmlns:p14="http://schemas.microsoft.com/office/powerpoint/2010/main" val="882905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D8DF0-C0BD-E427-7A98-F6B01EF2EC9C}"/>
              </a:ext>
            </a:extLst>
          </p:cNvPr>
          <p:cNvSpPr>
            <a:spLocks noGrp="1"/>
          </p:cNvSpPr>
          <p:nvPr>
            <p:ph type="title"/>
          </p:nvPr>
        </p:nvSpPr>
        <p:spPr/>
        <p:txBody>
          <a:bodyPr/>
          <a:lstStyle/>
          <a:p>
            <a:pPr algn="l"/>
            <a:r>
              <a:rPr lang="en-GB" dirty="0">
                <a:latin typeface="Consolas" panose="020B0609020204030204" pitchFamily="49" charset="0"/>
              </a:rPr>
              <a:t>Experimental Setup</a:t>
            </a:r>
            <a:endParaRPr lang="en-AT" dirty="0">
              <a:latin typeface="Consolas" panose="020B0609020204030204" pitchFamily="49" charset="0"/>
            </a:endParaRPr>
          </a:p>
        </p:txBody>
      </p:sp>
      <p:sp>
        <p:nvSpPr>
          <p:cNvPr id="3" name="Content Placeholder 2">
            <a:extLst>
              <a:ext uri="{FF2B5EF4-FFF2-40B4-BE49-F238E27FC236}">
                <a16:creationId xmlns:a16="http://schemas.microsoft.com/office/drawing/2014/main" id="{B84A5450-8775-0042-54CF-CB44039CF4E2}"/>
              </a:ext>
            </a:extLst>
          </p:cNvPr>
          <p:cNvSpPr>
            <a:spLocks noGrp="1"/>
          </p:cNvSpPr>
          <p:nvPr>
            <p:ph idx="1"/>
          </p:nvPr>
        </p:nvSpPr>
        <p:spPr>
          <a:xfrm>
            <a:off x="838200" y="1690688"/>
            <a:ext cx="10515600" cy="4351338"/>
          </a:xfrm>
        </p:spPr>
        <p:txBody>
          <a:bodyPr>
            <a:normAutofit fontScale="92500" lnSpcReduction="20000"/>
          </a:bodyPr>
          <a:lstStyle/>
          <a:p>
            <a:r>
              <a:rPr lang="en-GB" sz="2400" dirty="0">
                <a:latin typeface="Consolas" panose="020B0609020204030204" pitchFamily="49" charset="0"/>
              </a:rPr>
              <a:t>Evaluation Procedure</a:t>
            </a:r>
          </a:p>
          <a:p>
            <a:pPr lvl="1"/>
            <a:r>
              <a:rPr lang="en-GB" sz="2000" dirty="0">
                <a:latin typeface="Consolas" panose="020B0609020204030204" pitchFamily="49" charset="0"/>
              </a:rPr>
              <a:t>Use prompt engineering techniques to generate testcases</a:t>
            </a:r>
          </a:p>
          <a:p>
            <a:pPr lvl="1"/>
            <a:r>
              <a:rPr lang="en-GB" sz="2000" dirty="0">
                <a:latin typeface="Consolas" panose="020B0609020204030204" pitchFamily="49" charset="0"/>
              </a:rPr>
              <a:t>Basic Test Description structure shall be enforced</a:t>
            </a:r>
          </a:p>
          <a:p>
            <a:pPr lvl="2"/>
            <a:endParaRPr lang="en-GB" sz="1800" dirty="0">
              <a:latin typeface="Consolas" panose="020B0609020204030204" pitchFamily="49" charset="0"/>
            </a:endParaRPr>
          </a:p>
          <a:p>
            <a:pPr lvl="2"/>
            <a:endParaRPr lang="en-GB" sz="1800" dirty="0">
              <a:latin typeface="Consolas" panose="020B0609020204030204" pitchFamily="49" charset="0"/>
            </a:endParaRPr>
          </a:p>
          <a:p>
            <a:pPr lvl="2"/>
            <a:endParaRPr lang="en-GB" sz="1800" dirty="0">
              <a:latin typeface="Consolas" panose="020B0609020204030204" pitchFamily="49" charset="0"/>
            </a:endParaRPr>
          </a:p>
          <a:p>
            <a:pPr lvl="2"/>
            <a:endParaRPr lang="en-GB" sz="1800" dirty="0">
              <a:latin typeface="Consolas" panose="020B0609020204030204" pitchFamily="49" charset="0"/>
            </a:endParaRPr>
          </a:p>
          <a:p>
            <a:pPr lvl="2"/>
            <a:endParaRPr lang="en-GB" sz="1800" dirty="0">
              <a:latin typeface="Consolas" panose="020B0609020204030204" pitchFamily="49" charset="0"/>
            </a:endParaRPr>
          </a:p>
          <a:p>
            <a:pPr lvl="1"/>
            <a:r>
              <a:rPr lang="en-GB" sz="2000" dirty="0">
                <a:latin typeface="Consolas" panose="020B0609020204030204" pitchFamily="49" charset="0"/>
              </a:rPr>
              <a:t>Validation framework for quality estimate of Model + prompt variations</a:t>
            </a:r>
          </a:p>
          <a:p>
            <a:pPr lvl="2"/>
            <a:r>
              <a:rPr lang="en-GB" sz="1800" dirty="0">
                <a:latin typeface="Consolas" panose="020B0609020204030204" pitchFamily="49" charset="0"/>
              </a:rPr>
              <a:t>Simple structural checks</a:t>
            </a:r>
          </a:p>
          <a:p>
            <a:pPr lvl="2"/>
            <a:r>
              <a:rPr lang="en-GB" sz="1800" dirty="0">
                <a:latin typeface="Consolas" panose="020B0609020204030204" pitchFamily="49" charset="0"/>
              </a:rPr>
              <a:t>SpaCy for field characteristics</a:t>
            </a:r>
          </a:p>
          <a:p>
            <a:pPr lvl="1"/>
            <a:r>
              <a:rPr lang="en-GB" sz="2000" dirty="0">
                <a:latin typeface="Consolas" panose="020B0609020204030204" pitchFamily="49" charset="0"/>
              </a:rPr>
              <a:t>Human verification as final evaluation</a:t>
            </a:r>
          </a:p>
          <a:p>
            <a:pPr lvl="1"/>
            <a:endParaRPr lang="en-GB" dirty="0">
              <a:latin typeface="Consolas" panose="020B0609020204030204" pitchFamily="49" charset="0"/>
            </a:endParaRPr>
          </a:p>
        </p:txBody>
      </p:sp>
      <p:pic>
        <p:nvPicPr>
          <p:cNvPr id="5" name="Picture 4">
            <a:extLst>
              <a:ext uri="{FF2B5EF4-FFF2-40B4-BE49-F238E27FC236}">
                <a16:creationId xmlns:a16="http://schemas.microsoft.com/office/drawing/2014/main" id="{3E48E7C1-7749-EDCC-8F01-AEDE69A6F890}"/>
              </a:ext>
            </a:extLst>
          </p:cNvPr>
          <p:cNvPicPr>
            <a:picLocks noChangeAspect="1"/>
          </p:cNvPicPr>
          <p:nvPr/>
        </p:nvPicPr>
        <p:blipFill>
          <a:blip r:embed="rId3"/>
          <a:stretch>
            <a:fillRect/>
          </a:stretch>
        </p:blipFill>
        <p:spPr>
          <a:xfrm>
            <a:off x="3400586" y="2790825"/>
            <a:ext cx="2415107" cy="1434615"/>
          </a:xfrm>
          <a:prstGeom prst="rect">
            <a:avLst/>
          </a:prstGeom>
        </p:spPr>
      </p:pic>
    </p:spTree>
    <p:extLst>
      <p:ext uri="{BB962C8B-B14F-4D97-AF65-F5344CB8AC3E}">
        <p14:creationId xmlns:p14="http://schemas.microsoft.com/office/powerpoint/2010/main" val="2522491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F5826-B656-D6BD-8186-42E8FB31D677}"/>
              </a:ext>
            </a:extLst>
          </p:cNvPr>
          <p:cNvSpPr>
            <a:spLocks noGrp="1"/>
          </p:cNvSpPr>
          <p:nvPr>
            <p:ph type="title"/>
          </p:nvPr>
        </p:nvSpPr>
        <p:spPr/>
        <p:txBody>
          <a:bodyPr/>
          <a:lstStyle/>
          <a:p>
            <a:pPr algn="l"/>
            <a:r>
              <a:rPr lang="en-GB" dirty="0">
                <a:latin typeface="Consolas" panose="020B0609020204030204" pitchFamily="49" charset="0"/>
              </a:rPr>
              <a:t>Experimental Setup</a:t>
            </a:r>
            <a:endParaRPr lang="en-AT" dirty="0">
              <a:latin typeface="Consolas" panose="020B0609020204030204" pitchFamily="49" charset="0"/>
            </a:endParaRPr>
          </a:p>
        </p:txBody>
      </p:sp>
      <p:sp>
        <p:nvSpPr>
          <p:cNvPr id="3" name="Content Placeholder 2">
            <a:extLst>
              <a:ext uri="{FF2B5EF4-FFF2-40B4-BE49-F238E27FC236}">
                <a16:creationId xmlns:a16="http://schemas.microsoft.com/office/drawing/2014/main" id="{9BBF55A9-6E35-8D97-F429-C4C602BAD3A1}"/>
              </a:ext>
            </a:extLst>
          </p:cNvPr>
          <p:cNvSpPr>
            <a:spLocks noGrp="1"/>
          </p:cNvSpPr>
          <p:nvPr>
            <p:ph idx="1"/>
          </p:nvPr>
        </p:nvSpPr>
        <p:spPr/>
        <p:txBody>
          <a:bodyPr>
            <a:normAutofit lnSpcReduction="10000"/>
          </a:bodyPr>
          <a:lstStyle/>
          <a:p>
            <a:r>
              <a:rPr lang="en-GB" sz="2400" dirty="0">
                <a:latin typeface="Consolas" panose="020B0609020204030204" pitchFamily="49" charset="0"/>
              </a:rPr>
              <a:t>Evaluation on Dronology</a:t>
            </a:r>
          </a:p>
          <a:p>
            <a:pPr marL="457200" lvl="1" indent="0">
              <a:buNone/>
            </a:pPr>
            <a:r>
              <a:rPr lang="en-GB" dirty="0">
                <a:latin typeface="Consolas" panose="020B0609020204030204" pitchFamily="49" charset="0"/>
              </a:rPr>
              <a:t>Unmanned Aerial Systems </a:t>
            </a:r>
            <a:br>
              <a:rPr lang="en-GB" dirty="0">
                <a:latin typeface="Consolas" panose="020B0609020204030204" pitchFamily="49" charset="0"/>
              </a:rPr>
            </a:br>
            <a:r>
              <a:rPr lang="en-GB" dirty="0">
                <a:latin typeface="Consolas" panose="020B0609020204030204" pitchFamily="49" charset="0"/>
              </a:rPr>
              <a:t>Management and Control</a:t>
            </a:r>
          </a:p>
          <a:p>
            <a:pPr marL="457200" lvl="1" indent="0">
              <a:buNone/>
            </a:pPr>
            <a:endParaRPr lang="en-GB" dirty="0">
              <a:latin typeface="Consolas" panose="020B0609020204030204" pitchFamily="49" charset="0"/>
            </a:endParaRPr>
          </a:p>
          <a:p>
            <a:pPr lvl="1"/>
            <a:r>
              <a:rPr lang="en-GB" sz="2000" dirty="0">
                <a:latin typeface="Consolas" panose="020B0609020204030204" pitchFamily="49" charset="0"/>
              </a:rPr>
              <a:t>research environment </a:t>
            </a:r>
          </a:p>
          <a:p>
            <a:pPr lvl="1"/>
            <a:endParaRPr lang="en-GB" sz="2000" dirty="0">
              <a:latin typeface="Consolas" panose="020B0609020204030204" pitchFamily="49" charset="0"/>
            </a:endParaRPr>
          </a:p>
          <a:p>
            <a:pPr lvl="1"/>
            <a:r>
              <a:rPr lang="en-GB" sz="2000" dirty="0">
                <a:latin typeface="Consolas" panose="020B0609020204030204" pitchFamily="49" charset="0"/>
              </a:rPr>
              <a:t>framework for controlling </a:t>
            </a:r>
            <a:br>
              <a:rPr lang="en-GB" sz="2000" dirty="0">
                <a:latin typeface="Consolas" panose="020B0609020204030204" pitchFamily="49" charset="0"/>
              </a:rPr>
            </a:br>
            <a:r>
              <a:rPr lang="en-GB" sz="2000" dirty="0">
                <a:latin typeface="Consolas" panose="020B0609020204030204" pitchFamily="49" charset="0"/>
              </a:rPr>
              <a:t>and coordinating the flight</a:t>
            </a:r>
          </a:p>
          <a:p>
            <a:pPr lvl="1"/>
            <a:endParaRPr lang="en-GB" sz="2000" dirty="0">
              <a:latin typeface="Consolas" panose="020B0609020204030204" pitchFamily="49" charset="0"/>
            </a:endParaRPr>
          </a:p>
          <a:p>
            <a:pPr lvl="1"/>
            <a:r>
              <a:rPr lang="en-AT" sz="2000" dirty="0">
                <a:latin typeface="Consolas" panose="020B0609020204030204" pitchFamily="49" charset="0"/>
              </a:rPr>
              <a:t>https://dronology.info/</a:t>
            </a:r>
          </a:p>
          <a:p>
            <a:pPr lvl="1"/>
            <a:endParaRPr lang="en-GB" sz="2000" dirty="0">
              <a:latin typeface="Consolas" panose="020B0609020204030204" pitchFamily="49" charset="0"/>
            </a:endParaRPr>
          </a:p>
        </p:txBody>
      </p:sp>
      <p:pic>
        <p:nvPicPr>
          <p:cNvPr id="5" name="Picture 4" descr="A person using a computer and a drone&#10;&#10;AI-generated content may be incorrect.">
            <a:extLst>
              <a:ext uri="{FF2B5EF4-FFF2-40B4-BE49-F238E27FC236}">
                <a16:creationId xmlns:a16="http://schemas.microsoft.com/office/drawing/2014/main" id="{80912622-564C-C3AB-88C4-7DEF830BEC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3520" y="168993"/>
            <a:ext cx="2923581" cy="1947151"/>
          </a:xfrm>
          <a:prstGeom prst="rect">
            <a:avLst/>
          </a:prstGeom>
        </p:spPr>
      </p:pic>
      <p:pic>
        <p:nvPicPr>
          <p:cNvPr id="7" name="Picture 6" descr="A diagram of a system&#10;&#10;AI-generated content may be incorrect.">
            <a:extLst>
              <a:ext uri="{FF2B5EF4-FFF2-40B4-BE49-F238E27FC236}">
                <a16:creationId xmlns:a16="http://schemas.microsoft.com/office/drawing/2014/main" id="{7ADA1AF0-4FF3-84AC-B02E-76B7C8010B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1331" y="2260899"/>
            <a:ext cx="6445770" cy="4271071"/>
          </a:xfrm>
          <a:prstGeom prst="rect">
            <a:avLst/>
          </a:prstGeom>
        </p:spPr>
      </p:pic>
    </p:spTree>
    <p:extLst>
      <p:ext uri="{BB962C8B-B14F-4D97-AF65-F5344CB8AC3E}">
        <p14:creationId xmlns:p14="http://schemas.microsoft.com/office/powerpoint/2010/main" val="3581915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DA438F-5413-F9F1-89D8-9609E2FC78E3}"/>
              </a:ext>
            </a:extLst>
          </p:cNvPr>
          <p:cNvSpPr>
            <a:spLocks noGrp="1"/>
          </p:cNvSpPr>
          <p:nvPr>
            <p:ph idx="1"/>
          </p:nvPr>
        </p:nvSpPr>
        <p:spPr>
          <a:xfrm>
            <a:off x="838200" y="1859280"/>
            <a:ext cx="10515600" cy="4918776"/>
          </a:xfrm>
        </p:spPr>
        <p:txBody>
          <a:bodyPr/>
          <a:lstStyle/>
          <a:p>
            <a:r>
              <a:rPr lang="en-GB" dirty="0"/>
              <a:t>97 Requirements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Short and precise</a:t>
            </a:r>
          </a:p>
        </p:txBody>
      </p:sp>
      <p:pic>
        <p:nvPicPr>
          <p:cNvPr id="5" name="Picture 4">
            <a:extLst>
              <a:ext uri="{FF2B5EF4-FFF2-40B4-BE49-F238E27FC236}">
                <a16:creationId xmlns:a16="http://schemas.microsoft.com/office/drawing/2014/main" id="{B8E5F2F9-9753-FF9C-7EBE-D14CABCFCF02}"/>
              </a:ext>
            </a:extLst>
          </p:cNvPr>
          <p:cNvPicPr>
            <a:picLocks noChangeAspect="1"/>
          </p:cNvPicPr>
          <p:nvPr/>
        </p:nvPicPr>
        <p:blipFill>
          <a:blip r:embed="rId3"/>
          <a:stretch>
            <a:fillRect/>
          </a:stretch>
        </p:blipFill>
        <p:spPr>
          <a:xfrm>
            <a:off x="838200" y="2374268"/>
            <a:ext cx="9906000" cy="1085850"/>
          </a:xfrm>
          <a:prstGeom prst="rect">
            <a:avLst/>
          </a:prstGeom>
        </p:spPr>
      </p:pic>
      <p:pic>
        <p:nvPicPr>
          <p:cNvPr id="7" name="Picture 6">
            <a:extLst>
              <a:ext uri="{FF2B5EF4-FFF2-40B4-BE49-F238E27FC236}">
                <a16:creationId xmlns:a16="http://schemas.microsoft.com/office/drawing/2014/main" id="{D837A745-121B-4935-E946-8711B1904B06}"/>
              </a:ext>
            </a:extLst>
          </p:cNvPr>
          <p:cNvPicPr>
            <a:picLocks noChangeAspect="1"/>
          </p:cNvPicPr>
          <p:nvPr/>
        </p:nvPicPr>
        <p:blipFill>
          <a:blip r:embed="rId4"/>
          <a:stretch>
            <a:fillRect/>
          </a:stretch>
        </p:blipFill>
        <p:spPr>
          <a:xfrm>
            <a:off x="838200" y="4836157"/>
            <a:ext cx="9886950" cy="923925"/>
          </a:xfrm>
          <a:prstGeom prst="rect">
            <a:avLst/>
          </a:prstGeom>
        </p:spPr>
      </p:pic>
      <p:pic>
        <p:nvPicPr>
          <p:cNvPr id="9" name="Picture 8">
            <a:extLst>
              <a:ext uri="{FF2B5EF4-FFF2-40B4-BE49-F238E27FC236}">
                <a16:creationId xmlns:a16="http://schemas.microsoft.com/office/drawing/2014/main" id="{B0002559-88D5-E759-23AB-5D3BA4E8B464}"/>
              </a:ext>
            </a:extLst>
          </p:cNvPr>
          <p:cNvPicPr>
            <a:picLocks noChangeAspect="1"/>
          </p:cNvPicPr>
          <p:nvPr/>
        </p:nvPicPr>
        <p:blipFill>
          <a:blip r:embed="rId5"/>
          <a:stretch>
            <a:fillRect/>
          </a:stretch>
        </p:blipFill>
        <p:spPr>
          <a:xfrm>
            <a:off x="838200" y="3695700"/>
            <a:ext cx="9886950" cy="904875"/>
          </a:xfrm>
          <a:prstGeom prst="rect">
            <a:avLst/>
          </a:prstGeom>
        </p:spPr>
      </p:pic>
      <p:sp>
        <p:nvSpPr>
          <p:cNvPr id="6" name="Title 1">
            <a:extLst>
              <a:ext uri="{FF2B5EF4-FFF2-40B4-BE49-F238E27FC236}">
                <a16:creationId xmlns:a16="http://schemas.microsoft.com/office/drawing/2014/main" id="{826ECF3D-CDB1-5D88-B3BF-0EF3A932FA5E}"/>
              </a:ext>
            </a:extLst>
          </p:cNvPr>
          <p:cNvSpPr>
            <a:spLocks noGrp="1"/>
          </p:cNvSpPr>
          <p:nvPr>
            <p:ph type="title"/>
          </p:nvPr>
        </p:nvSpPr>
        <p:spPr>
          <a:xfrm>
            <a:off x="913795" y="609600"/>
            <a:ext cx="10353762" cy="970450"/>
          </a:xfrm>
        </p:spPr>
        <p:txBody>
          <a:bodyPr/>
          <a:lstStyle/>
          <a:p>
            <a:pPr algn="l"/>
            <a:r>
              <a:rPr lang="en-GB" dirty="0">
                <a:latin typeface="Consolas" panose="020B0609020204030204" pitchFamily="49" charset="0"/>
              </a:rPr>
              <a:t>Experimental Setup</a:t>
            </a:r>
            <a:endParaRPr lang="en-AT" dirty="0">
              <a:latin typeface="Consolas" panose="020B0609020204030204" pitchFamily="49" charset="0"/>
            </a:endParaRPr>
          </a:p>
        </p:txBody>
      </p:sp>
    </p:spTree>
    <p:extLst>
      <p:ext uri="{BB962C8B-B14F-4D97-AF65-F5344CB8AC3E}">
        <p14:creationId xmlns:p14="http://schemas.microsoft.com/office/powerpoint/2010/main" val="1375322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CB6FD-3E1F-2106-AB44-D5433E1BD859}"/>
              </a:ext>
            </a:extLst>
          </p:cNvPr>
          <p:cNvSpPr>
            <a:spLocks noGrp="1"/>
          </p:cNvSpPr>
          <p:nvPr>
            <p:ph type="title"/>
          </p:nvPr>
        </p:nvSpPr>
        <p:spPr/>
        <p:txBody>
          <a:bodyPr>
            <a:normAutofit/>
          </a:bodyPr>
          <a:lstStyle/>
          <a:p>
            <a:pPr algn="l"/>
            <a:r>
              <a:rPr lang="en-GB" dirty="0"/>
              <a:t>Prompt Engineering techniques</a:t>
            </a:r>
            <a:endParaRPr lang="en-AT" dirty="0"/>
          </a:p>
        </p:txBody>
      </p:sp>
      <p:sp>
        <p:nvSpPr>
          <p:cNvPr id="3" name="Content Placeholder 2">
            <a:extLst>
              <a:ext uri="{FF2B5EF4-FFF2-40B4-BE49-F238E27FC236}">
                <a16:creationId xmlns:a16="http://schemas.microsoft.com/office/drawing/2014/main" id="{55D9D6CC-D1AB-939C-3B8A-914D47CCE9A0}"/>
              </a:ext>
            </a:extLst>
          </p:cNvPr>
          <p:cNvSpPr>
            <a:spLocks noGrp="1"/>
          </p:cNvSpPr>
          <p:nvPr>
            <p:ph idx="1"/>
          </p:nvPr>
        </p:nvSpPr>
        <p:spPr>
          <a:xfrm>
            <a:off x="838200" y="1803867"/>
            <a:ext cx="10053918" cy="3513138"/>
          </a:xfrm>
        </p:spPr>
        <p:txBody>
          <a:bodyPr>
            <a:normAutofit lnSpcReduction="10000"/>
          </a:bodyPr>
          <a:lstStyle/>
          <a:p>
            <a:pPr marL="0" indent="0">
              <a:buNone/>
            </a:pPr>
            <a:endParaRPr lang="en-GB" sz="2400" dirty="0">
              <a:latin typeface="Consolas" panose="020B0609020204030204" pitchFamily="49" charset="0"/>
            </a:endParaRPr>
          </a:p>
          <a:p>
            <a:pPr marL="457200" indent="-457200"/>
            <a:r>
              <a:rPr lang="en-GB" sz="2400" dirty="0">
                <a:latin typeface="Consolas" panose="020B0609020204030204" pitchFamily="49" charset="0"/>
              </a:rPr>
              <a:t>Zero shot </a:t>
            </a:r>
            <a:r>
              <a:rPr lang="en-GB" sz="2400" dirty="0">
                <a:effectLst>
                  <a:outerShdw blurRad="38100" dist="38100" dir="2700000" algn="tl">
                    <a:srgbClr val="000000">
                      <a:alpha val="43137"/>
                    </a:srgbClr>
                  </a:outerShdw>
                </a:effectLst>
                <a:latin typeface="Consolas" panose="020B0609020204030204" pitchFamily="49" charset="0"/>
              </a:rPr>
              <a:t>learning</a:t>
            </a:r>
            <a:r>
              <a:rPr lang="en-GB" sz="2400" dirty="0">
                <a:latin typeface="Consolas" panose="020B0609020204030204" pitchFamily="49" charset="0"/>
              </a:rPr>
              <a:t> </a:t>
            </a:r>
            <a:br>
              <a:rPr lang="en-GB" sz="2400" dirty="0">
                <a:latin typeface="Consolas" panose="020B0609020204030204" pitchFamily="49" charset="0"/>
              </a:rPr>
            </a:br>
            <a:r>
              <a:rPr lang="en-GB" sz="2000" dirty="0">
                <a:latin typeface="Consolas" panose="020B0609020204030204" pitchFamily="49" charset="0"/>
              </a:rPr>
              <a:t>+ Directional stimulus 	</a:t>
            </a:r>
          </a:p>
          <a:p>
            <a:pPr marL="457200" indent="-457200"/>
            <a:r>
              <a:rPr lang="en-GB" sz="2400" dirty="0">
                <a:latin typeface="Consolas" panose="020B0609020204030204" pitchFamily="49" charset="0"/>
              </a:rPr>
              <a:t>Personas – software tester</a:t>
            </a:r>
          </a:p>
          <a:p>
            <a:pPr marL="457200" indent="-457200"/>
            <a:r>
              <a:rPr lang="en-GB" sz="2400" dirty="0">
                <a:latin typeface="Consolas" panose="020B0609020204030204" pitchFamily="49" charset="0"/>
              </a:rPr>
              <a:t>Tree of thought – multiple experts</a:t>
            </a:r>
          </a:p>
          <a:p>
            <a:pPr marL="457200" indent="-457200"/>
            <a:r>
              <a:rPr lang="en-GB" sz="2400" dirty="0">
                <a:latin typeface="Consolas" panose="020B0609020204030204" pitchFamily="49" charset="0"/>
              </a:rPr>
              <a:t>Providing Context</a:t>
            </a:r>
          </a:p>
          <a:p>
            <a:pPr lvl="1"/>
            <a:r>
              <a:rPr lang="en-GB" sz="2000" dirty="0">
                <a:latin typeface="Consolas" panose="020B0609020204030204" pitchFamily="49" charset="0"/>
              </a:rPr>
              <a:t>Dronology introduction + TOT</a:t>
            </a:r>
          </a:p>
          <a:p>
            <a:pPr lvl="1"/>
            <a:r>
              <a:rPr lang="en-GB" sz="2000" dirty="0">
                <a:latin typeface="Consolas" panose="020B0609020204030204" pitchFamily="49" charset="0"/>
              </a:rPr>
              <a:t>Preparsing of requirements + TOT</a:t>
            </a:r>
          </a:p>
        </p:txBody>
      </p:sp>
      <p:sp>
        <p:nvSpPr>
          <p:cNvPr id="6" name="Content Placeholder 2">
            <a:extLst>
              <a:ext uri="{FF2B5EF4-FFF2-40B4-BE49-F238E27FC236}">
                <a16:creationId xmlns:a16="http://schemas.microsoft.com/office/drawing/2014/main" id="{0501C84C-A285-C805-1E9C-EBD00CE4D1CC}"/>
              </a:ext>
            </a:extLst>
          </p:cNvPr>
          <p:cNvSpPr txBox="1">
            <a:spLocks/>
          </p:cNvSpPr>
          <p:nvPr/>
        </p:nvSpPr>
        <p:spPr>
          <a:xfrm>
            <a:off x="5979459" y="1825625"/>
            <a:ext cx="472888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T" sz="2000" dirty="0">
              <a:latin typeface="Consolas" panose="020B0609020204030204" pitchFamily="49" charset="0"/>
            </a:endParaRPr>
          </a:p>
        </p:txBody>
      </p:sp>
      <p:sp>
        <p:nvSpPr>
          <p:cNvPr id="8" name="Content Placeholder 2">
            <a:extLst>
              <a:ext uri="{FF2B5EF4-FFF2-40B4-BE49-F238E27FC236}">
                <a16:creationId xmlns:a16="http://schemas.microsoft.com/office/drawing/2014/main" id="{5DF99C2E-C6EE-7D90-DA67-84830D34BB28}"/>
              </a:ext>
            </a:extLst>
          </p:cNvPr>
          <p:cNvSpPr txBox="1">
            <a:spLocks/>
          </p:cNvSpPr>
          <p:nvPr/>
        </p:nvSpPr>
        <p:spPr>
          <a:xfrm>
            <a:off x="6096000" y="1825625"/>
            <a:ext cx="472888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2000" dirty="0">
              <a:latin typeface="Consolas" panose="020B0609020204030204" pitchFamily="49" charset="0"/>
            </a:endParaRPr>
          </a:p>
          <a:p>
            <a:endParaRPr lang="en-GB" sz="2000" dirty="0">
              <a:latin typeface="Consolas" panose="020B0609020204030204" pitchFamily="49" charset="0"/>
            </a:endParaRPr>
          </a:p>
        </p:txBody>
      </p:sp>
      <p:sp>
        <p:nvSpPr>
          <p:cNvPr id="9" name="Right Brace 8">
            <a:extLst>
              <a:ext uri="{FF2B5EF4-FFF2-40B4-BE49-F238E27FC236}">
                <a16:creationId xmlns:a16="http://schemas.microsoft.com/office/drawing/2014/main" id="{9A61D3C4-EE0C-5FB4-28D7-90C003E4C103}"/>
              </a:ext>
            </a:extLst>
          </p:cNvPr>
          <p:cNvSpPr/>
          <p:nvPr/>
        </p:nvSpPr>
        <p:spPr>
          <a:xfrm>
            <a:off x="4513730" y="2356784"/>
            <a:ext cx="277906" cy="569259"/>
          </a:xfrm>
          <a:prstGeom prst="rightBrace">
            <a:avLst/>
          </a:prstGeom>
          <a:noFill/>
          <a:ln>
            <a:solidFill>
              <a:schemeClr val="tx1"/>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en-AT" dirty="0"/>
          </a:p>
        </p:txBody>
      </p:sp>
      <p:sp>
        <p:nvSpPr>
          <p:cNvPr id="10" name="TextBox 9">
            <a:extLst>
              <a:ext uri="{FF2B5EF4-FFF2-40B4-BE49-F238E27FC236}">
                <a16:creationId xmlns:a16="http://schemas.microsoft.com/office/drawing/2014/main" id="{8F3466CA-45AF-D62D-70D7-E987CEC521ED}"/>
              </a:ext>
            </a:extLst>
          </p:cNvPr>
          <p:cNvSpPr txBox="1"/>
          <p:nvPr/>
        </p:nvSpPr>
        <p:spPr>
          <a:xfrm>
            <a:off x="4816512" y="2433887"/>
            <a:ext cx="2424504" cy="400110"/>
          </a:xfrm>
          <a:prstGeom prst="rect">
            <a:avLst/>
          </a:prstGeom>
          <a:noFill/>
        </p:spPr>
        <p:txBody>
          <a:bodyPr wrap="square" rtlCol="0">
            <a:spAutoFit/>
          </a:bodyPr>
          <a:lstStyle/>
          <a:p>
            <a:r>
              <a:rPr lang="en-GB"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rPr>
              <a:t>Baseline</a:t>
            </a:r>
            <a:endParaRPr lang="en-AT"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Consolas" panose="020B0609020204030204" pitchFamily="49" charset="0"/>
            </a:endParaRPr>
          </a:p>
        </p:txBody>
      </p:sp>
    </p:spTree>
    <p:extLst>
      <p:ext uri="{BB962C8B-B14F-4D97-AF65-F5344CB8AC3E}">
        <p14:creationId xmlns:p14="http://schemas.microsoft.com/office/powerpoint/2010/main" val="651094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95FC3-D62C-CFE7-A486-9F5D562F1CDC}"/>
              </a:ext>
            </a:extLst>
          </p:cNvPr>
          <p:cNvSpPr>
            <a:spLocks noGrp="1"/>
          </p:cNvSpPr>
          <p:nvPr>
            <p:ph type="title"/>
          </p:nvPr>
        </p:nvSpPr>
        <p:spPr/>
        <p:txBody>
          <a:bodyPr/>
          <a:lstStyle/>
          <a:p>
            <a:pPr algn="l"/>
            <a:r>
              <a:rPr lang="en-GB" dirty="0"/>
              <a:t>Models - </a:t>
            </a:r>
            <a:r>
              <a:rPr lang="en-GB" sz="4400" dirty="0">
                <a:latin typeface="Consolas" panose="020B0609020204030204" pitchFamily="49" charset="0"/>
              </a:rPr>
              <a:t>Deepseek-r1</a:t>
            </a:r>
            <a:endParaRPr lang="en-AT" dirty="0"/>
          </a:p>
        </p:txBody>
      </p:sp>
      <p:sp>
        <p:nvSpPr>
          <p:cNvPr id="3" name="Content Placeholder 2">
            <a:extLst>
              <a:ext uri="{FF2B5EF4-FFF2-40B4-BE49-F238E27FC236}">
                <a16:creationId xmlns:a16="http://schemas.microsoft.com/office/drawing/2014/main" id="{480F3908-10FD-6222-8A24-FFB972FCF589}"/>
              </a:ext>
            </a:extLst>
          </p:cNvPr>
          <p:cNvSpPr>
            <a:spLocks noGrp="1"/>
          </p:cNvSpPr>
          <p:nvPr>
            <p:ph idx="1"/>
          </p:nvPr>
        </p:nvSpPr>
        <p:spPr/>
        <p:txBody>
          <a:bodyPr>
            <a:normAutofit fontScale="92500" lnSpcReduction="10000"/>
          </a:bodyPr>
          <a:lstStyle/>
          <a:p>
            <a:r>
              <a:rPr lang="en-GB" sz="2200" dirty="0">
                <a:latin typeface="Consolas" panose="020B0609020204030204" pitchFamily="49" charset="0"/>
              </a:rPr>
              <a:t>Distilled</a:t>
            </a:r>
          </a:p>
          <a:p>
            <a:pPr lvl="1"/>
            <a:r>
              <a:rPr lang="en-GB" sz="1800" dirty="0">
                <a:latin typeface="Consolas" panose="020B0609020204030204" pitchFamily="49" charset="0"/>
              </a:rPr>
              <a:t>1.5b</a:t>
            </a:r>
          </a:p>
          <a:p>
            <a:pPr lvl="1"/>
            <a:r>
              <a:rPr lang="en-GB" sz="1800" dirty="0">
                <a:latin typeface="Consolas" panose="020B0609020204030204" pitchFamily="49" charset="0"/>
              </a:rPr>
              <a:t>7b</a:t>
            </a:r>
          </a:p>
          <a:p>
            <a:pPr lvl="1"/>
            <a:r>
              <a:rPr lang="en-GB" sz="1800" dirty="0">
                <a:latin typeface="Consolas" panose="020B0609020204030204" pitchFamily="49" charset="0"/>
              </a:rPr>
              <a:t>8b</a:t>
            </a:r>
          </a:p>
          <a:p>
            <a:pPr lvl="1"/>
            <a:r>
              <a:rPr lang="en-GB" sz="1800" dirty="0">
                <a:latin typeface="Consolas" panose="020B0609020204030204" pitchFamily="49" charset="0"/>
              </a:rPr>
              <a:t>14b</a:t>
            </a:r>
          </a:p>
          <a:p>
            <a:pPr lvl="1"/>
            <a:r>
              <a:rPr lang="en-GB" sz="1800" dirty="0">
                <a:latin typeface="Consolas" panose="020B0609020204030204" pitchFamily="49" charset="0"/>
              </a:rPr>
              <a:t>32b</a:t>
            </a:r>
          </a:p>
          <a:p>
            <a:pPr lvl="1"/>
            <a:r>
              <a:rPr lang="en-GB" sz="1800" dirty="0">
                <a:latin typeface="Consolas" panose="020B0609020204030204" pitchFamily="49" charset="0"/>
              </a:rPr>
              <a:t>…</a:t>
            </a:r>
            <a:endParaRPr lang="en-GB" sz="2400" dirty="0">
              <a:latin typeface="Consolas" panose="020B0609020204030204" pitchFamily="49" charset="0"/>
            </a:endParaRPr>
          </a:p>
          <a:p>
            <a:r>
              <a:rPr lang="en-GB" sz="2000" dirty="0">
                <a:latin typeface="Consolas" panose="020B0609020204030204" pitchFamily="49" charset="0"/>
              </a:rPr>
              <a:t>Ollama 0.6.2</a:t>
            </a:r>
          </a:p>
          <a:p>
            <a:pPr lvl="1"/>
            <a:r>
              <a:rPr lang="en-GB" sz="1600" dirty="0">
                <a:latin typeface="Consolas" panose="020B0609020204030204" pitchFamily="49" charset="0"/>
              </a:rPr>
              <a:t>local</a:t>
            </a:r>
          </a:p>
          <a:p>
            <a:pPr lvl="1"/>
            <a:r>
              <a:rPr lang="en-GB" sz="1600" dirty="0">
                <a:latin typeface="Consolas" panose="020B0609020204030204" pitchFamily="49" charset="0"/>
              </a:rPr>
              <a:t>independent</a:t>
            </a:r>
            <a:endParaRPr lang="en-GB" sz="2000" dirty="0">
              <a:latin typeface="Consolas" panose="020B0609020204030204" pitchFamily="49" charset="0"/>
            </a:endParaRPr>
          </a:p>
          <a:p>
            <a:r>
              <a:rPr lang="en-GB" sz="2000" dirty="0">
                <a:latin typeface="Consolas" panose="020B0609020204030204" pitchFamily="49" charset="0"/>
              </a:rPr>
              <a:t>Fixed Parameters</a:t>
            </a:r>
          </a:p>
        </p:txBody>
      </p:sp>
      <p:pic>
        <p:nvPicPr>
          <p:cNvPr id="6" name="Picture 5" descr="A graph of different colored bars&#10;&#10;AI-generated content may be incorrect.">
            <a:extLst>
              <a:ext uri="{FF2B5EF4-FFF2-40B4-BE49-F238E27FC236}">
                <a16:creationId xmlns:a16="http://schemas.microsoft.com/office/drawing/2014/main" id="{9FFA9432-CB55-8855-73A0-86152DFE8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3204" y="1823534"/>
            <a:ext cx="7773574" cy="4696329"/>
          </a:xfrm>
          <a:prstGeom prst="rect">
            <a:avLst/>
          </a:prstGeom>
        </p:spPr>
      </p:pic>
    </p:spTree>
    <p:extLst>
      <p:ext uri="{BB962C8B-B14F-4D97-AF65-F5344CB8AC3E}">
        <p14:creationId xmlns:p14="http://schemas.microsoft.com/office/powerpoint/2010/main" val="2990344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35BA2-E7B2-C851-293E-248F6B46AB34}"/>
              </a:ext>
            </a:extLst>
          </p:cNvPr>
          <p:cNvSpPr>
            <a:spLocks noGrp="1"/>
          </p:cNvSpPr>
          <p:nvPr>
            <p:ph type="title"/>
          </p:nvPr>
        </p:nvSpPr>
        <p:spPr/>
        <p:txBody>
          <a:bodyPr/>
          <a:lstStyle/>
          <a:p>
            <a:pPr algn="l"/>
            <a:r>
              <a:rPr lang="en-GB" dirty="0"/>
              <a:t>Results</a:t>
            </a:r>
            <a:endParaRPr lang="en-AT" dirty="0"/>
          </a:p>
        </p:txBody>
      </p:sp>
      <p:sp>
        <p:nvSpPr>
          <p:cNvPr id="3" name="Content Placeholder 2">
            <a:extLst>
              <a:ext uri="{FF2B5EF4-FFF2-40B4-BE49-F238E27FC236}">
                <a16:creationId xmlns:a16="http://schemas.microsoft.com/office/drawing/2014/main" id="{94CE03A8-F7FF-9BC5-F7A1-C6BADD016042}"/>
              </a:ext>
            </a:extLst>
          </p:cNvPr>
          <p:cNvSpPr>
            <a:spLocks noGrp="1"/>
          </p:cNvSpPr>
          <p:nvPr>
            <p:ph idx="1"/>
          </p:nvPr>
        </p:nvSpPr>
        <p:spPr>
          <a:xfrm>
            <a:off x="913795" y="1732449"/>
            <a:ext cx="10353762" cy="4363551"/>
          </a:xfrm>
        </p:spPr>
        <p:txBody>
          <a:bodyPr>
            <a:normAutofit/>
          </a:bodyPr>
          <a:lstStyle/>
          <a:p>
            <a:r>
              <a:rPr lang="en-GB" dirty="0"/>
              <a:t>Output generation</a:t>
            </a:r>
          </a:p>
          <a:p>
            <a:pPr lvl="1"/>
            <a:r>
              <a:rPr lang="en-GB" sz="2000" dirty="0"/>
              <a:t>Unstable output with default parameters</a:t>
            </a:r>
          </a:p>
          <a:p>
            <a:pPr lvl="1"/>
            <a:r>
              <a:rPr lang="en-GB" sz="2000" dirty="0"/>
              <a:t>1.5b – very unreliable</a:t>
            </a:r>
          </a:p>
          <a:p>
            <a:pPr lvl="1"/>
            <a:r>
              <a:rPr lang="en-GB" sz="2000" dirty="0">
                <a:latin typeface="Consolas" panose="020B0609020204030204" pitchFamily="49" charset="0"/>
              </a:rPr>
              <a:t>32b parameters - local resource limit</a:t>
            </a:r>
          </a:p>
          <a:p>
            <a:r>
              <a:rPr lang="en-GB" dirty="0"/>
              <a:t>Present tense check – systematic fails</a:t>
            </a:r>
          </a:p>
          <a:p>
            <a:pPr lvl="1"/>
            <a:r>
              <a:rPr lang="en-GB" dirty="0"/>
              <a:t>Requirement format:</a:t>
            </a:r>
          </a:p>
          <a:p>
            <a:pPr marL="457200" lvl="1" indent="0">
              <a:buNone/>
            </a:pPr>
            <a:r>
              <a:rPr lang="en-GB" sz="2000" dirty="0"/>
              <a:t>“When given situation / state … shall react in certain way.”</a:t>
            </a:r>
          </a:p>
          <a:p>
            <a:pPr lvl="1"/>
            <a:r>
              <a:rPr lang="en-GB" dirty="0"/>
              <a:t>Likely result in a last test step:</a:t>
            </a:r>
          </a:p>
          <a:p>
            <a:pPr marL="457200" lvl="1" indent="0">
              <a:buNone/>
            </a:pPr>
            <a:r>
              <a:rPr lang="en-GB" sz="2000" b="0" dirty="0">
                <a:effectLst/>
                <a:latin typeface="Consolas" panose="020B0609020204030204" pitchFamily="49" charset="0"/>
              </a:rPr>
              <a:t>“Verify that the selected map layer is displayed correctly.”</a:t>
            </a:r>
          </a:p>
          <a:p>
            <a:pPr marL="457200" lvl="1" indent="0">
              <a:buNone/>
            </a:pPr>
            <a:r>
              <a:rPr lang="en-GB" sz="2000" b="0" dirty="0">
                <a:effectLst/>
                <a:latin typeface="Consolas" panose="020B0609020204030204" pitchFamily="49" charset="0"/>
              </a:rPr>
              <a:t>-&gt; Not catched by defined rule</a:t>
            </a:r>
          </a:p>
        </p:txBody>
      </p:sp>
      <p:pic>
        <p:nvPicPr>
          <p:cNvPr id="5" name="Picture 4">
            <a:extLst>
              <a:ext uri="{FF2B5EF4-FFF2-40B4-BE49-F238E27FC236}">
                <a16:creationId xmlns:a16="http://schemas.microsoft.com/office/drawing/2014/main" id="{E648659B-36DC-A5C6-D5BB-26209D0CF71B}"/>
              </a:ext>
            </a:extLst>
          </p:cNvPr>
          <p:cNvPicPr>
            <a:picLocks noChangeAspect="1"/>
          </p:cNvPicPr>
          <p:nvPr/>
        </p:nvPicPr>
        <p:blipFill>
          <a:blip r:embed="rId3"/>
          <a:stretch>
            <a:fillRect/>
          </a:stretch>
        </p:blipFill>
        <p:spPr>
          <a:xfrm>
            <a:off x="5262564" y="181216"/>
            <a:ext cx="6653212" cy="1475034"/>
          </a:xfrm>
          <a:prstGeom prst="rect">
            <a:avLst/>
          </a:prstGeom>
        </p:spPr>
      </p:pic>
      <p:sp>
        <p:nvSpPr>
          <p:cNvPr id="4" name="Content Placeholder 2">
            <a:extLst>
              <a:ext uri="{FF2B5EF4-FFF2-40B4-BE49-F238E27FC236}">
                <a16:creationId xmlns:a16="http://schemas.microsoft.com/office/drawing/2014/main" id="{35D5146E-FCD2-CA61-60FB-F376F34394D9}"/>
              </a:ext>
            </a:extLst>
          </p:cNvPr>
          <p:cNvSpPr txBox="1">
            <a:spLocks/>
          </p:cNvSpPr>
          <p:nvPr/>
        </p:nvSpPr>
        <p:spPr>
          <a:xfrm>
            <a:off x="9752995" y="1634743"/>
            <a:ext cx="2225645" cy="347811"/>
          </a:xfrm>
          <a:prstGeom prst="rect">
            <a:avLst/>
          </a:prstGeom>
          <a:effectLst>
            <a:outerShdw blurRad="25400" dir="17880000">
              <a:srgbClr val="000000">
                <a:alpha val="46000"/>
              </a:srgbClr>
            </a:outerShdw>
          </a:effectLst>
        </p:spPr>
        <p:txBody>
          <a:bodyPr vert="horz" lIns="91440" tIns="45720" rIns="91440" bIns="45720" rtlCol="0" anchor="t">
            <a:normAutofit fontScale="925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GB" sz="1400" dirty="0"/>
              <a:t>Example 1.5b zero shot</a:t>
            </a:r>
            <a:endParaRPr lang="en-GB" sz="1400" dirty="0">
              <a:effectLst/>
              <a:latin typeface="Consolas" panose="020B0609020204030204" pitchFamily="49" charset="0"/>
            </a:endParaRPr>
          </a:p>
        </p:txBody>
      </p:sp>
    </p:spTree>
    <p:extLst>
      <p:ext uri="{BB962C8B-B14F-4D97-AF65-F5344CB8AC3E}">
        <p14:creationId xmlns:p14="http://schemas.microsoft.com/office/powerpoint/2010/main" val="2164496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5217B4-346E-9EED-0BCE-80D5C215C79A}"/>
              </a:ext>
            </a:extLst>
          </p:cNvPr>
          <p:cNvSpPr txBox="1">
            <a:spLocks/>
          </p:cNvSpPr>
          <p:nvPr/>
        </p:nvSpPr>
        <p:spPr>
          <a:xfrm>
            <a:off x="0" y="-26224"/>
            <a:ext cx="12039600" cy="870355"/>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b="0" dirty="0">
                <a:effectLst/>
                <a:latin typeface="Consolas" panose="020B0609020204030204" pitchFamily="49" charset="0"/>
              </a:rPr>
              <a:t>"The FlightRouteManager shall ensure that all flight routes represent a {{VALIDFLIGHTROUTE}}.“ (</a:t>
            </a:r>
            <a:r>
              <a:rPr lang="en-GB" sz="4400" dirty="0"/>
              <a:t>RE-503)</a:t>
            </a:r>
            <a:endParaRPr lang="en-GB" sz="4400" b="0" dirty="0">
              <a:effectLst/>
              <a:latin typeface="Consolas" panose="020B0609020204030204" pitchFamily="49" charset="0"/>
            </a:endParaRPr>
          </a:p>
        </p:txBody>
      </p:sp>
      <p:sp>
        <p:nvSpPr>
          <p:cNvPr id="6" name="Content Placeholder 2">
            <a:extLst>
              <a:ext uri="{FF2B5EF4-FFF2-40B4-BE49-F238E27FC236}">
                <a16:creationId xmlns:a16="http://schemas.microsoft.com/office/drawing/2014/main" id="{691FB1C8-4EDE-831D-2721-D96F5F2597A0}"/>
              </a:ext>
            </a:extLst>
          </p:cNvPr>
          <p:cNvSpPr txBox="1">
            <a:spLocks/>
          </p:cNvSpPr>
          <p:nvPr/>
        </p:nvSpPr>
        <p:spPr>
          <a:xfrm>
            <a:off x="6229350" y="671513"/>
            <a:ext cx="227647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pic>
        <p:nvPicPr>
          <p:cNvPr id="8" name="Picture 7">
            <a:extLst>
              <a:ext uri="{FF2B5EF4-FFF2-40B4-BE49-F238E27FC236}">
                <a16:creationId xmlns:a16="http://schemas.microsoft.com/office/drawing/2014/main" id="{2DCBE631-25A3-1BA5-F753-9C0989BC85DC}"/>
              </a:ext>
            </a:extLst>
          </p:cNvPr>
          <p:cNvPicPr>
            <a:picLocks noChangeAspect="1"/>
          </p:cNvPicPr>
          <p:nvPr/>
        </p:nvPicPr>
        <p:blipFill>
          <a:blip r:embed="rId3"/>
          <a:srcRect t="1187" b="-1"/>
          <a:stretch/>
        </p:blipFill>
        <p:spPr>
          <a:xfrm>
            <a:off x="5803255" y="1114503"/>
            <a:ext cx="6160145" cy="1709549"/>
          </a:xfrm>
          <a:prstGeom prst="rect">
            <a:avLst/>
          </a:prstGeom>
        </p:spPr>
      </p:pic>
      <p:sp>
        <p:nvSpPr>
          <p:cNvPr id="10" name="TextBox 9">
            <a:extLst>
              <a:ext uri="{FF2B5EF4-FFF2-40B4-BE49-F238E27FC236}">
                <a16:creationId xmlns:a16="http://schemas.microsoft.com/office/drawing/2014/main" id="{C6E78FBD-300D-FC70-272E-F98FE5BF3EA1}"/>
              </a:ext>
            </a:extLst>
          </p:cNvPr>
          <p:cNvSpPr txBox="1"/>
          <p:nvPr/>
        </p:nvSpPr>
        <p:spPr>
          <a:xfrm>
            <a:off x="1057274" y="2942043"/>
            <a:ext cx="3495676" cy="369332"/>
          </a:xfrm>
          <a:prstGeom prst="rect">
            <a:avLst/>
          </a:prstGeom>
          <a:noFill/>
        </p:spPr>
        <p:txBody>
          <a:bodyPr wrap="square" rtlCol="0">
            <a:spAutoFit/>
          </a:bodyPr>
          <a:lstStyle/>
          <a:p>
            <a:r>
              <a:rPr lang="en-GB" dirty="0">
                <a:solidFill>
                  <a:srgbClr val="00B0F0"/>
                </a:solidFill>
                <a:latin typeface="Consolas" panose="020B0609020204030204" pitchFamily="49" charset="0"/>
              </a:rPr>
              <a:t>Context + TOT 8b</a:t>
            </a:r>
            <a:endParaRPr lang="en-AT" dirty="0">
              <a:solidFill>
                <a:srgbClr val="00B0F0"/>
              </a:solidFill>
              <a:latin typeface="Consolas" panose="020B0609020204030204" pitchFamily="49" charset="0"/>
            </a:endParaRPr>
          </a:p>
        </p:txBody>
      </p:sp>
      <p:pic>
        <p:nvPicPr>
          <p:cNvPr id="12" name="Picture 11">
            <a:extLst>
              <a:ext uri="{FF2B5EF4-FFF2-40B4-BE49-F238E27FC236}">
                <a16:creationId xmlns:a16="http://schemas.microsoft.com/office/drawing/2014/main" id="{4AC20289-7391-534E-A237-E7E272801DF2}"/>
              </a:ext>
            </a:extLst>
          </p:cNvPr>
          <p:cNvPicPr>
            <a:picLocks noChangeAspect="1"/>
          </p:cNvPicPr>
          <p:nvPr/>
        </p:nvPicPr>
        <p:blipFill>
          <a:blip r:embed="rId4"/>
          <a:srcRect t="2170" b="1"/>
          <a:stretch/>
        </p:blipFill>
        <p:spPr>
          <a:xfrm>
            <a:off x="3464719" y="2961074"/>
            <a:ext cx="7843838" cy="1745844"/>
          </a:xfrm>
          <a:prstGeom prst="rect">
            <a:avLst/>
          </a:prstGeom>
        </p:spPr>
      </p:pic>
      <p:sp>
        <p:nvSpPr>
          <p:cNvPr id="13" name="TextBox 12">
            <a:extLst>
              <a:ext uri="{FF2B5EF4-FFF2-40B4-BE49-F238E27FC236}">
                <a16:creationId xmlns:a16="http://schemas.microsoft.com/office/drawing/2014/main" id="{F2DC9F67-882D-24D0-C74D-389CCB672185}"/>
              </a:ext>
            </a:extLst>
          </p:cNvPr>
          <p:cNvSpPr txBox="1"/>
          <p:nvPr/>
        </p:nvSpPr>
        <p:spPr>
          <a:xfrm>
            <a:off x="5803255" y="772007"/>
            <a:ext cx="1962150" cy="369332"/>
          </a:xfrm>
          <a:prstGeom prst="rect">
            <a:avLst/>
          </a:prstGeom>
          <a:noFill/>
        </p:spPr>
        <p:txBody>
          <a:bodyPr wrap="square" rtlCol="0">
            <a:spAutoFit/>
          </a:bodyPr>
          <a:lstStyle/>
          <a:p>
            <a:r>
              <a:rPr lang="en-GB" dirty="0">
                <a:solidFill>
                  <a:srgbClr val="00B0F0"/>
                </a:solidFill>
                <a:latin typeface="Consolas" panose="020B0609020204030204" pitchFamily="49" charset="0"/>
              </a:rPr>
              <a:t>TOT 8b</a:t>
            </a:r>
            <a:endParaRPr lang="en-AT" dirty="0">
              <a:solidFill>
                <a:srgbClr val="00B0F0"/>
              </a:solidFill>
              <a:latin typeface="Consolas" panose="020B0609020204030204" pitchFamily="49" charset="0"/>
            </a:endParaRPr>
          </a:p>
        </p:txBody>
      </p:sp>
      <p:pic>
        <p:nvPicPr>
          <p:cNvPr id="15" name="Picture 14">
            <a:extLst>
              <a:ext uri="{FF2B5EF4-FFF2-40B4-BE49-F238E27FC236}">
                <a16:creationId xmlns:a16="http://schemas.microsoft.com/office/drawing/2014/main" id="{62F61A91-CD84-6513-8CD1-612025F83A28}"/>
              </a:ext>
            </a:extLst>
          </p:cNvPr>
          <p:cNvPicPr>
            <a:picLocks noChangeAspect="1"/>
          </p:cNvPicPr>
          <p:nvPr/>
        </p:nvPicPr>
        <p:blipFill>
          <a:blip r:embed="rId5"/>
          <a:stretch>
            <a:fillRect/>
          </a:stretch>
        </p:blipFill>
        <p:spPr>
          <a:xfrm>
            <a:off x="3464719" y="4801814"/>
            <a:ext cx="7565231" cy="1955265"/>
          </a:xfrm>
          <a:prstGeom prst="rect">
            <a:avLst/>
          </a:prstGeom>
        </p:spPr>
      </p:pic>
      <p:sp>
        <p:nvSpPr>
          <p:cNvPr id="16" name="TextBox 15">
            <a:extLst>
              <a:ext uri="{FF2B5EF4-FFF2-40B4-BE49-F238E27FC236}">
                <a16:creationId xmlns:a16="http://schemas.microsoft.com/office/drawing/2014/main" id="{CCD67A05-336A-9D69-0021-C3DC89CD825E}"/>
              </a:ext>
            </a:extLst>
          </p:cNvPr>
          <p:cNvSpPr txBox="1"/>
          <p:nvPr/>
        </p:nvSpPr>
        <p:spPr>
          <a:xfrm>
            <a:off x="957262" y="4725949"/>
            <a:ext cx="3352800" cy="369332"/>
          </a:xfrm>
          <a:prstGeom prst="rect">
            <a:avLst/>
          </a:prstGeom>
          <a:noFill/>
        </p:spPr>
        <p:txBody>
          <a:bodyPr wrap="square" rtlCol="0">
            <a:spAutoFit/>
          </a:bodyPr>
          <a:lstStyle/>
          <a:p>
            <a:r>
              <a:rPr lang="en-GB" dirty="0">
                <a:solidFill>
                  <a:srgbClr val="00B0F0"/>
                </a:solidFill>
                <a:latin typeface="Consolas" panose="020B0609020204030204" pitchFamily="49" charset="0"/>
              </a:rPr>
              <a:t>Preparse + TOT 8b</a:t>
            </a:r>
            <a:endParaRPr lang="en-AT" dirty="0">
              <a:solidFill>
                <a:srgbClr val="00B0F0"/>
              </a:solidFill>
              <a:latin typeface="Consolas" panose="020B0609020204030204" pitchFamily="49" charset="0"/>
            </a:endParaRPr>
          </a:p>
        </p:txBody>
      </p:sp>
      <p:graphicFrame>
        <p:nvGraphicFramePr>
          <p:cNvPr id="22" name="Table 21">
            <a:extLst>
              <a:ext uri="{FF2B5EF4-FFF2-40B4-BE49-F238E27FC236}">
                <a16:creationId xmlns:a16="http://schemas.microsoft.com/office/drawing/2014/main" id="{2BF4DEC2-0356-0575-6F4E-6EDBA90A467B}"/>
              </a:ext>
            </a:extLst>
          </p:cNvPr>
          <p:cNvGraphicFramePr>
            <a:graphicFrameLocks noGrp="1"/>
          </p:cNvGraphicFramePr>
          <p:nvPr>
            <p:extLst>
              <p:ext uri="{D42A27DB-BD31-4B8C-83A1-F6EECF244321}">
                <p14:modId xmlns:p14="http://schemas.microsoft.com/office/powerpoint/2010/main" val="2538089992"/>
              </p:ext>
            </p:extLst>
          </p:nvPr>
        </p:nvGraphicFramePr>
        <p:xfrm>
          <a:off x="885824" y="850871"/>
          <a:ext cx="4297361" cy="1520856"/>
        </p:xfrm>
        <a:graphic>
          <a:graphicData uri="http://schemas.openxmlformats.org/drawingml/2006/table">
            <a:tbl>
              <a:tblPr/>
              <a:tblGrid>
                <a:gridCol w="1163636">
                  <a:extLst>
                    <a:ext uri="{9D8B030D-6E8A-4147-A177-3AD203B41FA5}">
                      <a16:colId xmlns:a16="http://schemas.microsoft.com/office/drawing/2014/main" val="2103156903"/>
                    </a:ext>
                  </a:extLst>
                </a:gridCol>
                <a:gridCol w="932389">
                  <a:extLst>
                    <a:ext uri="{9D8B030D-6E8A-4147-A177-3AD203B41FA5}">
                      <a16:colId xmlns:a16="http://schemas.microsoft.com/office/drawing/2014/main" val="2577356249"/>
                    </a:ext>
                  </a:extLst>
                </a:gridCol>
                <a:gridCol w="652248">
                  <a:extLst>
                    <a:ext uri="{9D8B030D-6E8A-4147-A177-3AD203B41FA5}">
                      <a16:colId xmlns:a16="http://schemas.microsoft.com/office/drawing/2014/main" val="2297257766"/>
                    </a:ext>
                  </a:extLst>
                </a:gridCol>
                <a:gridCol w="896840">
                  <a:extLst>
                    <a:ext uri="{9D8B030D-6E8A-4147-A177-3AD203B41FA5}">
                      <a16:colId xmlns:a16="http://schemas.microsoft.com/office/drawing/2014/main" val="3524094138"/>
                    </a:ext>
                  </a:extLst>
                </a:gridCol>
                <a:gridCol w="652248">
                  <a:extLst>
                    <a:ext uri="{9D8B030D-6E8A-4147-A177-3AD203B41FA5}">
                      <a16:colId xmlns:a16="http://schemas.microsoft.com/office/drawing/2014/main" val="2171746002"/>
                    </a:ext>
                  </a:extLst>
                </a:gridCol>
              </a:tblGrid>
              <a:tr h="222100">
                <a:tc>
                  <a:txBody>
                    <a:bodyPr/>
                    <a:lstStyle/>
                    <a:p>
                      <a:pPr algn="l" fontAlgn="b"/>
                      <a:endParaRPr lang="en-AT" sz="1200" b="0" i="0" u="none" strike="noStrike" dirty="0">
                        <a:solidFill>
                          <a:srgbClr val="000000"/>
                        </a:solidFill>
                        <a:effectLst/>
                        <a:latin typeface="Aptos Narrow" panose="020B0004020202020204" pitchFamily="34" charset="0"/>
                      </a:endParaRPr>
                    </a:p>
                  </a:txBody>
                  <a:tcPr marL="9525" marR="9525" marT="9525" marB="0" anchor="b">
                    <a:lnL>
                      <a:noFill/>
                    </a:lnL>
                    <a:lnR w="6350" cap="flat" cmpd="sng" algn="ctr">
                      <a:solidFill>
                        <a:srgbClr val="B2B2B2"/>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noFill/>
                  </a:tcPr>
                </a:tc>
                <a:tc>
                  <a:txBody>
                    <a:bodyPr/>
                    <a:lstStyle/>
                    <a:p>
                      <a:pPr algn="l" fontAlgn="b"/>
                      <a:r>
                        <a:rPr lang="en-GB" sz="1200" b="1" i="0" u="none" strike="noStrike" dirty="0">
                          <a:solidFill>
                            <a:srgbClr val="000000"/>
                          </a:solidFill>
                          <a:effectLst/>
                          <a:latin typeface="Aptos Narrow" panose="020B0004020202020204" pitchFamily="34" charset="0"/>
                        </a:rPr>
                        <a:t>Model Size</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B2B2B2"/>
                      </a:solidFill>
                      <a:prstDash val="solid"/>
                      <a:round/>
                      <a:headEnd type="none" w="med" len="med"/>
                      <a:tailEnd type="none" w="med" len="med"/>
                    </a:lnR>
                    <a:lnT w="6350" cap="flat" cmpd="sng" algn="ctr">
                      <a:solidFill>
                        <a:srgbClr val="B2B2B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l" fontAlgn="b"/>
                      <a:r>
                        <a:rPr lang="en-AT" sz="12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B2B2B2"/>
                      </a:solidFill>
                      <a:prstDash val="solid"/>
                      <a:round/>
                      <a:headEnd type="none" w="med" len="med"/>
                      <a:tailEnd type="none" w="med" len="med"/>
                    </a:lnR>
                    <a:lnT w="6350" cap="flat" cmpd="sng" algn="ctr">
                      <a:solidFill>
                        <a:srgbClr val="B2B2B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l" fontAlgn="b"/>
                      <a:r>
                        <a:rPr lang="en-AT" sz="12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B2B2B2"/>
                      </a:solidFill>
                      <a:prstDash val="solid"/>
                      <a:round/>
                      <a:headEnd type="none" w="med" len="med"/>
                      <a:tailEnd type="none" w="med" len="med"/>
                    </a:lnR>
                    <a:lnT w="6350" cap="flat" cmpd="sng" algn="ctr">
                      <a:solidFill>
                        <a:srgbClr val="B2B2B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l" fontAlgn="b"/>
                      <a:r>
                        <a:rPr lang="en-AT" sz="12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B2B2B2"/>
                      </a:solidFill>
                      <a:prstDash val="solid"/>
                      <a:round/>
                      <a:headEnd type="none" w="med" len="med"/>
                      <a:tailEnd type="none" w="med" len="med"/>
                    </a:lnR>
                    <a:lnT w="6350" cap="flat" cmpd="sng" algn="ctr">
                      <a:solidFill>
                        <a:srgbClr val="B2B2B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2203396649"/>
                  </a:ext>
                </a:extLst>
              </a:tr>
              <a:tr h="222100">
                <a:tc>
                  <a:txBody>
                    <a:bodyPr/>
                    <a:lstStyle/>
                    <a:p>
                      <a:pPr algn="l" fontAlgn="b"/>
                      <a:r>
                        <a:rPr lang="en-GB" sz="1200" b="1" i="0" u="none" strike="noStrike" dirty="0">
                          <a:solidFill>
                            <a:srgbClr val="3F3F76"/>
                          </a:solidFill>
                          <a:effectLst/>
                          <a:latin typeface="Aptos Narrow" panose="020B0004020202020204" pitchFamily="34" charset="0"/>
                        </a:rPr>
                        <a:t>Prompt</a:t>
                      </a:r>
                    </a:p>
                  </a:txBody>
                  <a:tcPr marL="9525" marR="9525" marT="9525" marB="0" anchor="b">
                    <a:lnL w="6350" cap="flat" cmpd="sng" algn="ctr">
                      <a:solidFill>
                        <a:srgbClr val="7F7F7F"/>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algn="r" fontAlgn="b"/>
                      <a:r>
                        <a:rPr lang="en-AT" sz="1200" b="1" i="0" u="none" strike="noStrike" dirty="0">
                          <a:solidFill>
                            <a:srgbClr val="000000"/>
                          </a:solidFill>
                          <a:effectLst/>
                          <a:latin typeface="Aptos Narrow" panose="020B0004020202020204" pitchFamily="34" charset="0"/>
                        </a:rPr>
                        <a:t>1.5</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B2B2B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r" fontAlgn="b"/>
                      <a:r>
                        <a:rPr lang="en-AT" sz="1200" b="1" i="0" u="none" strike="noStrike" dirty="0">
                          <a:solidFill>
                            <a:srgbClr val="000000"/>
                          </a:solidFill>
                          <a:effectLst/>
                          <a:latin typeface="Aptos Narrow" panose="020B0004020202020204" pitchFamily="34" charset="0"/>
                        </a:rPr>
                        <a:t>7</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B2B2B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r" fontAlgn="b"/>
                      <a:r>
                        <a:rPr lang="en-AT" sz="1200" b="1" i="0" u="none" strike="noStrike" dirty="0">
                          <a:solidFill>
                            <a:srgbClr val="000000"/>
                          </a:solidFill>
                          <a:effectLst/>
                          <a:latin typeface="Aptos Narrow" panose="020B0004020202020204" pitchFamily="34" charset="0"/>
                        </a:rPr>
                        <a:t>8</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B2B2B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algn="r" fontAlgn="b"/>
                      <a:r>
                        <a:rPr lang="en-AT" sz="1200" b="1" i="0" u="none" strike="noStrike" dirty="0">
                          <a:solidFill>
                            <a:srgbClr val="000000"/>
                          </a:solidFill>
                          <a:effectLst/>
                          <a:latin typeface="Aptos Narrow" panose="020B0004020202020204" pitchFamily="34" charset="0"/>
                        </a:rPr>
                        <a:t>14</a:t>
                      </a:r>
                    </a:p>
                  </a:txBody>
                  <a:tcPr marL="9525" marR="9525" marT="9525" marB="0" anchor="b">
                    <a:lnL w="6350" cap="flat" cmpd="sng" algn="ctr">
                      <a:solidFill>
                        <a:srgbClr val="B2B2B2"/>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2528855571"/>
                  </a:ext>
                </a:extLst>
              </a:tr>
              <a:tr h="213639">
                <a:tc>
                  <a:txBody>
                    <a:bodyPr/>
                    <a:lstStyle/>
                    <a:p>
                      <a:pPr algn="r" fontAlgn="b"/>
                      <a:r>
                        <a:rPr lang="en-GB" sz="1200" b="1" i="0" u="none" strike="noStrike" dirty="0">
                          <a:solidFill>
                            <a:srgbClr val="3F3F76"/>
                          </a:solidFill>
                          <a:effectLst/>
                          <a:latin typeface="Aptos Narrow" panose="020B0004020202020204" pitchFamily="34" charset="0"/>
                        </a:rPr>
                        <a:t>Zero</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tc>
                  <a:txBody>
                    <a:bodyPr/>
                    <a:lstStyle/>
                    <a:p>
                      <a:pPr algn="r" fontAlgn="b"/>
                      <a:r>
                        <a:rPr lang="en-GB" sz="1200" b="0" i="0" u="none" strike="noStrike" dirty="0">
                          <a:solidFill>
                            <a:srgbClr val="9C0006"/>
                          </a:solidFill>
                          <a:effectLst/>
                          <a:latin typeface="Aptos Narrow" panose="020B0004020202020204" pitchFamily="34" charset="0"/>
                        </a:rPr>
                        <a:t>invalid json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dirty="0">
                          <a:solidFill>
                            <a:srgbClr val="9C0006"/>
                          </a:solidFill>
                          <a:effectLst/>
                          <a:latin typeface="Aptos Narrow" panose="020B0004020202020204" pitchFamily="34" charset="0"/>
                        </a:rPr>
                        <a:t>empty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a:solidFill>
                            <a:srgbClr val="9C0006"/>
                          </a:solidFill>
                          <a:effectLst/>
                          <a:latin typeface="Aptos Narrow" panose="020B0004020202020204" pitchFamily="34" charset="0"/>
                        </a:rPr>
                        <a:t>empty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a:solidFill>
                            <a:srgbClr val="9C0006"/>
                          </a:solidFill>
                          <a:effectLst/>
                          <a:latin typeface="Aptos Narrow" panose="020B0004020202020204" pitchFamily="34" charset="0"/>
                        </a:rPr>
                        <a:t>empty</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827533003"/>
                  </a:ext>
                </a:extLst>
              </a:tr>
              <a:tr h="213639">
                <a:tc>
                  <a:txBody>
                    <a:bodyPr/>
                    <a:lstStyle/>
                    <a:p>
                      <a:pPr algn="r" fontAlgn="b"/>
                      <a:r>
                        <a:rPr lang="en-GB" sz="1200" b="1" i="0" u="none" strike="noStrike" dirty="0">
                          <a:solidFill>
                            <a:srgbClr val="3F3F76"/>
                          </a:solidFill>
                          <a:effectLst/>
                          <a:latin typeface="Aptos Narrow" panose="020B0004020202020204" pitchFamily="34" charset="0"/>
                        </a:rPr>
                        <a:t>Persona</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tc>
                  <a:txBody>
                    <a:bodyPr/>
                    <a:lstStyle/>
                    <a:p>
                      <a:pPr algn="r" fontAlgn="b"/>
                      <a:r>
                        <a:rPr lang="en-GB" sz="1200" b="0" i="0" u="none" strike="noStrike" dirty="0">
                          <a:solidFill>
                            <a:srgbClr val="9C0006"/>
                          </a:solidFill>
                          <a:effectLst/>
                          <a:latin typeface="Aptos Narrow" panose="020B0004020202020204" pitchFamily="34" charset="0"/>
                        </a:rPr>
                        <a:t>timeout</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dirty="0">
                          <a:solidFill>
                            <a:srgbClr val="9C0006"/>
                          </a:solidFill>
                          <a:effectLst/>
                          <a:latin typeface="Aptos Narrow" panose="020B0004020202020204" pitchFamily="34" charset="0"/>
                        </a:rPr>
                        <a:t>empty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a:solidFill>
                            <a:srgbClr val="006100"/>
                          </a:solidFill>
                          <a:effectLst/>
                          <a:latin typeface="Aptos Narrow" panose="020B0004020202020204" pitchFamily="34" charset="0"/>
                        </a:rPr>
                        <a:t>ok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r" fontAlgn="b"/>
                      <a:r>
                        <a:rPr lang="en-GB" sz="1200" b="0" i="0" u="none" strike="noStrike">
                          <a:solidFill>
                            <a:srgbClr val="006100"/>
                          </a:solidFill>
                          <a:effectLst/>
                          <a:latin typeface="Aptos Narrow" panose="020B0004020202020204" pitchFamily="34" charset="0"/>
                        </a:rPr>
                        <a:t>good</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extLst>
                  <a:ext uri="{0D108BD9-81ED-4DB2-BD59-A6C34878D82A}">
                    <a16:rowId xmlns:a16="http://schemas.microsoft.com/office/drawing/2014/main" val="1040420992"/>
                  </a:ext>
                </a:extLst>
              </a:tr>
              <a:tr h="213639">
                <a:tc>
                  <a:txBody>
                    <a:bodyPr/>
                    <a:lstStyle/>
                    <a:p>
                      <a:pPr algn="r" fontAlgn="b"/>
                      <a:r>
                        <a:rPr lang="en-GB" sz="1200" b="1" i="0" u="none" strike="noStrike" dirty="0">
                          <a:solidFill>
                            <a:srgbClr val="3F3F76"/>
                          </a:solidFill>
                          <a:effectLst/>
                          <a:latin typeface="Aptos Narrow" panose="020B0004020202020204" pitchFamily="34" charset="0"/>
                        </a:rPr>
                        <a:t>TOT</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tc>
                  <a:txBody>
                    <a:bodyPr/>
                    <a:lstStyle/>
                    <a:p>
                      <a:pPr algn="r" fontAlgn="b"/>
                      <a:r>
                        <a:rPr lang="en-GB" sz="1200" b="0" i="0" u="none" strike="noStrike">
                          <a:solidFill>
                            <a:srgbClr val="9C0006"/>
                          </a:solidFill>
                          <a:effectLst/>
                          <a:latin typeface="Aptos Narrow" panose="020B0004020202020204" pitchFamily="34" charset="0"/>
                        </a:rPr>
                        <a:t>empty</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a:solidFill>
                            <a:srgbClr val="9C0006"/>
                          </a:solidFill>
                          <a:effectLst/>
                          <a:latin typeface="Aptos Narrow" panose="020B0004020202020204" pitchFamily="34" charset="0"/>
                        </a:rPr>
                        <a:t>empty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dirty="0">
                          <a:solidFill>
                            <a:srgbClr val="006100"/>
                          </a:solidFill>
                          <a:effectLst/>
                          <a:latin typeface="Aptos Narrow" panose="020B0004020202020204" pitchFamily="34" charset="0"/>
                        </a:rPr>
                        <a:t>ok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r" fontAlgn="b"/>
                      <a:r>
                        <a:rPr lang="en-GB" sz="1200" b="0" i="0" u="none" strike="noStrike" dirty="0">
                          <a:solidFill>
                            <a:srgbClr val="9C0006"/>
                          </a:solidFill>
                          <a:effectLst/>
                          <a:latin typeface="Aptos Narrow" panose="020B0004020202020204" pitchFamily="34" charset="0"/>
                        </a:rPr>
                        <a:t>empty</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474185227"/>
                  </a:ext>
                </a:extLst>
              </a:tr>
              <a:tr h="213639">
                <a:tc>
                  <a:txBody>
                    <a:bodyPr/>
                    <a:lstStyle/>
                    <a:p>
                      <a:pPr algn="r" fontAlgn="b"/>
                      <a:r>
                        <a:rPr lang="en-GB" sz="1200" b="1" i="0" u="none" strike="noStrike" dirty="0">
                          <a:solidFill>
                            <a:srgbClr val="3F3F76"/>
                          </a:solidFill>
                          <a:effectLst/>
                          <a:latin typeface="Aptos Narrow" panose="020B0004020202020204" pitchFamily="34" charset="0"/>
                        </a:rPr>
                        <a:t>Context + TOT</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tc>
                  <a:txBody>
                    <a:bodyPr/>
                    <a:lstStyle/>
                    <a:p>
                      <a:pPr algn="r" fontAlgn="b"/>
                      <a:r>
                        <a:rPr lang="en-GB" sz="1200" b="0" i="0" u="none" strike="noStrike" dirty="0">
                          <a:solidFill>
                            <a:srgbClr val="9C0006"/>
                          </a:solidFill>
                          <a:effectLst/>
                          <a:latin typeface="Aptos Narrow" panose="020B0004020202020204" pitchFamily="34" charset="0"/>
                        </a:rPr>
                        <a:t>empty</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a:solidFill>
                            <a:srgbClr val="9C0006"/>
                          </a:solidFill>
                          <a:effectLst/>
                          <a:latin typeface="Aptos Narrow" panose="020B0004020202020204" pitchFamily="34" charset="0"/>
                        </a:rPr>
                        <a:t>empty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dirty="0">
                          <a:solidFill>
                            <a:srgbClr val="006100"/>
                          </a:solidFill>
                          <a:effectLst/>
                          <a:latin typeface="Aptos Narrow" panose="020B0004020202020204" pitchFamily="34" charset="0"/>
                        </a:rPr>
                        <a:t>ok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r" fontAlgn="b"/>
                      <a:r>
                        <a:rPr lang="en-GB" sz="1200" b="0" i="0" u="none" strike="noStrike" dirty="0">
                          <a:solidFill>
                            <a:srgbClr val="9C0006"/>
                          </a:solidFill>
                          <a:effectLst/>
                          <a:latin typeface="Aptos Narrow" panose="020B0004020202020204" pitchFamily="34" charset="0"/>
                        </a:rPr>
                        <a:t>empty</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2731617615"/>
                  </a:ext>
                </a:extLst>
              </a:tr>
              <a:tr h="222100">
                <a:tc>
                  <a:txBody>
                    <a:bodyPr/>
                    <a:lstStyle/>
                    <a:p>
                      <a:pPr algn="r" fontAlgn="b"/>
                      <a:r>
                        <a:rPr lang="en-GB" sz="1200" b="1" i="0" u="none" strike="noStrike" dirty="0">
                          <a:solidFill>
                            <a:srgbClr val="3F3F76"/>
                          </a:solidFill>
                          <a:effectLst/>
                          <a:latin typeface="Aptos Narrow" panose="020B0004020202020204" pitchFamily="34" charset="0"/>
                        </a:rPr>
                        <a:t>Preparsing + TOT</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99"/>
                    </a:solidFill>
                  </a:tcPr>
                </a:tc>
                <a:tc>
                  <a:txBody>
                    <a:bodyPr/>
                    <a:lstStyle/>
                    <a:p>
                      <a:pPr algn="r" fontAlgn="b"/>
                      <a:r>
                        <a:rPr lang="en-GB" sz="1200" b="0" i="0" u="none" strike="noStrike" dirty="0">
                          <a:solidFill>
                            <a:srgbClr val="9C0006"/>
                          </a:solidFill>
                          <a:effectLst/>
                          <a:latin typeface="Aptos Narrow" panose="020B0004020202020204" pitchFamily="34" charset="0"/>
                        </a:rPr>
                        <a:t>timeout</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a:solidFill>
                            <a:srgbClr val="9C0006"/>
                          </a:solidFill>
                          <a:effectLst/>
                          <a:latin typeface="Aptos Narrow" panose="020B0004020202020204" pitchFamily="34" charset="0"/>
                        </a:rPr>
                        <a:t>empty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7CE"/>
                    </a:solidFill>
                  </a:tcPr>
                </a:tc>
                <a:tc>
                  <a:txBody>
                    <a:bodyPr/>
                    <a:lstStyle/>
                    <a:p>
                      <a:pPr algn="r" fontAlgn="b"/>
                      <a:r>
                        <a:rPr lang="en-GB" sz="1200" b="0" i="0" u="none" strike="noStrike">
                          <a:solidFill>
                            <a:srgbClr val="006100"/>
                          </a:solidFill>
                          <a:effectLst/>
                          <a:latin typeface="Aptos Narrow" panose="020B0004020202020204" pitchFamily="34" charset="0"/>
                        </a:rPr>
                        <a:t>ok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FCE"/>
                    </a:solidFill>
                  </a:tcPr>
                </a:tc>
                <a:tc>
                  <a:txBody>
                    <a:bodyPr/>
                    <a:lstStyle/>
                    <a:p>
                      <a:pPr algn="r" fontAlgn="b"/>
                      <a:r>
                        <a:rPr lang="en-GB" sz="1200" b="0" i="0" u="none" strike="noStrike" dirty="0">
                          <a:solidFill>
                            <a:srgbClr val="006100"/>
                          </a:solidFill>
                          <a:effectLst/>
                          <a:latin typeface="Aptos Narrow" panose="020B0004020202020204" pitchFamily="34" charset="0"/>
                        </a:rPr>
                        <a:t>best</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FCE"/>
                    </a:solidFill>
                  </a:tcPr>
                </a:tc>
                <a:extLst>
                  <a:ext uri="{0D108BD9-81ED-4DB2-BD59-A6C34878D82A}">
                    <a16:rowId xmlns:a16="http://schemas.microsoft.com/office/drawing/2014/main" val="1684281472"/>
                  </a:ext>
                </a:extLst>
              </a:tr>
            </a:tbl>
          </a:graphicData>
        </a:graphic>
      </p:graphicFrame>
    </p:spTree>
    <p:extLst>
      <p:ext uri="{BB962C8B-B14F-4D97-AF65-F5344CB8AC3E}">
        <p14:creationId xmlns:p14="http://schemas.microsoft.com/office/powerpoint/2010/main" val="2426746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A787F-66D1-2F6C-D12E-AEC7A44992D3}"/>
              </a:ext>
            </a:extLst>
          </p:cNvPr>
          <p:cNvSpPr>
            <a:spLocks noGrp="1"/>
          </p:cNvSpPr>
          <p:nvPr>
            <p:ph type="title"/>
          </p:nvPr>
        </p:nvSpPr>
        <p:spPr>
          <a:xfrm>
            <a:off x="838200" y="104775"/>
            <a:ext cx="10515600" cy="566738"/>
          </a:xfrm>
        </p:spPr>
        <p:txBody>
          <a:bodyPr>
            <a:normAutofit/>
          </a:bodyPr>
          <a:lstStyle/>
          <a:p>
            <a:pPr algn="l"/>
            <a:r>
              <a:rPr lang="en-GB" sz="3000" dirty="0"/>
              <a:t>RE-503 continued</a:t>
            </a:r>
            <a:endParaRPr lang="en-AT" sz="3000" dirty="0"/>
          </a:p>
        </p:txBody>
      </p:sp>
      <p:pic>
        <p:nvPicPr>
          <p:cNvPr id="9" name="Picture 8">
            <a:extLst>
              <a:ext uri="{FF2B5EF4-FFF2-40B4-BE49-F238E27FC236}">
                <a16:creationId xmlns:a16="http://schemas.microsoft.com/office/drawing/2014/main" id="{8098288D-2ABA-E899-35A1-B1F092C59943}"/>
              </a:ext>
            </a:extLst>
          </p:cNvPr>
          <p:cNvPicPr>
            <a:picLocks noChangeAspect="1"/>
          </p:cNvPicPr>
          <p:nvPr/>
        </p:nvPicPr>
        <p:blipFill>
          <a:blip r:embed="rId3"/>
          <a:stretch>
            <a:fillRect/>
          </a:stretch>
        </p:blipFill>
        <p:spPr>
          <a:xfrm>
            <a:off x="752475" y="1225511"/>
            <a:ext cx="8267700" cy="2752725"/>
          </a:xfrm>
          <a:prstGeom prst="rect">
            <a:avLst/>
          </a:prstGeom>
        </p:spPr>
      </p:pic>
      <p:sp>
        <p:nvSpPr>
          <p:cNvPr id="10" name="TextBox 9">
            <a:extLst>
              <a:ext uri="{FF2B5EF4-FFF2-40B4-BE49-F238E27FC236}">
                <a16:creationId xmlns:a16="http://schemas.microsoft.com/office/drawing/2014/main" id="{1830A8FC-D735-A42C-AE16-84732A9F4DF4}"/>
              </a:ext>
            </a:extLst>
          </p:cNvPr>
          <p:cNvSpPr txBox="1"/>
          <p:nvPr/>
        </p:nvSpPr>
        <p:spPr>
          <a:xfrm>
            <a:off x="752475" y="856179"/>
            <a:ext cx="2876551" cy="369332"/>
          </a:xfrm>
          <a:prstGeom prst="rect">
            <a:avLst/>
          </a:prstGeom>
          <a:noFill/>
        </p:spPr>
        <p:txBody>
          <a:bodyPr wrap="square" rtlCol="0">
            <a:spAutoFit/>
          </a:bodyPr>
          <a:lstStyle/>
          <a:p>
            <a:r>
              <a:rPr lang="en-GB" dirty="0">
                <a:solidFill>
                  <a:srgbClr val="00B0F0"/>
                </a:solidFill>
                <a:latin typeface="Consolas" panose="020B0609020204030204" pitchFamily="49" charset="0"/>
              </a:rPr>
              <a:t>Preparse +  TOT 14b</a:t>
            </a:r>
            <a:endParaRPr lang="en-AT" dirty="0">
              <a:solidFill>
                <a:srgbClr val="00B0F0"/>
              </a:solidFill>
              <a:latin typeface="Consolas" panose="020B0609020204030204" pitchFamily="49" charset="0"/>
            </a:endParaRPr>
          </a:p>
        </p:txBody>
      </p:sp>
      <p:pic>
        <p:nvPicPr>
          <p:cNvPr id="13" name="Picture 12">
            <a:extLst>
              <a:ext uri="{FF2B5EF4-FFF2-40B4-BE49-F238E27FC236}">
                <a16:creationId xmlns:a16="http://schemas.microsoft.com/office/drawing/2014/main" id="{64EC9B55-DA94-0D23-B455-BAFC9E3BC166}"/>
              </a:ext>
            </a:extLst>
          </p:cNvPr>
          <p:cNvPicPr>
            <a:picLocks noChangeAspect="1"/>
          </p:cNvPicPr>
          <p:nvPr/>
        </p:nvPicPr>
        <p:blipFill>
          <a:blip r:embed="rId4"/>
          <a:stretch>
            <a:fillRect/>
          </a:stretch>
        </p:blipFill>
        <p:spPr>
          <a:xfrm>
            <a:off x="752475" y="4457396"/>
            <a:ext cx="10229850" cy="2200275"/>
          </a:xfrm>
          <a:prstGeom prst="rect">
            <a:avLst/>
          </a:prstGeom>
        </p:spPr>
      </p:pic>
      <p:sp>
        <p:nvSpPr>
          <p:cNvPr id="14" name="TextBox 13">
            <a:extLst>
              <a:ext uri="{FF2B5EF4-FFF2-40B4-BE49-F238E27FC236}">
                <a16:creationId xmlns:a16="http://schemas.microsoft.com/office/drawing/2014/main" id="{93468E99-F9A4-000A-BD40-5A75E38EAE9E}"/>
              </a:ext>
            </a:extLst>
          </p:cNvPr>
          <p:cNvSpPr txBox="1"/>
          <p:nvPr/>
        </p:nvSpPr>
        <p:spPr>
          <a:xfrm>
            <a:off x="752475" y="4088064"/>
            <a:ext cx="1990725" cy="369332"/>
          </a:xfrm>
          <a:prstGeom prst="rect">
            <a:avLst/>
          </a:prstGeom>
          <a:noFill/>
        </p:spPr>
        <p:txBody>
          <a:bodyPr wrap="square" rtlCol="0">
            <a:spAutoFit/>
          </a:bodyPr>
          <a:lstStyle/>
          <a:p>
            <a:r>
              <a:rPr lang="en-GB" dirty="0">
                <a:solidFill>
                  <a:srgbClr val="00B0F0"/>
                </a:solidFill>
                <a:latin typeface="Consolas" panose="020B0609020204030204" pitchFamily="49" charset="0"/>
              </a:rPr>
              <a:t>Persona 14b</a:t>
            </a:r>
            <a:endParaRPr lang="en-AT" dirty="0">
              <a:solidFill>
                <a:srgbClr val="00B0F0"/>
              </a:solidFill>
              <a:latin typeface="Consolas" panose="020B0609020204030204" pitchFamily="49" charset="0"/>
            </a:endParaRPr>
          </a:p>
        </p:txBody>
      </p:sp>
    </p:spTree>
    <p:extLst>
      <p:ext uri="{BB962C8B-B14F-4D97-AF65-F5344CB8AC3E}">
        <p14:creationId xmlns:p14="http://schemas.microsoft.com/office/powerpoint/2010/main" val="3171040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F31E6-15D6-3903-0759-AF3BB7F43C65}"/>
              </a:ext>
            </a:extLst>
          </p:cNvPr>
          <p:cNvSpPr>
            <a:spLocks noGrp="1"/>
          </p:cNvSpPr>
          <p:nvPr>
            <p:ph type="title"/>
          </p:nvPr>
        </p:nvSpPr>
        <p:spPr>
          <a:xfrm>
            <a:off x="919119" y="180975"/>
            <a:ext cx="10353762" cy="970450"/>
          </a:xfrm>
        </p:spPr>
        <p:txBody>
          <a:bodyPr/>
          <a:lstStyle/>
          <a:p>
            <a:pPr algn="l"/>
            <a:r>
              <a:rPr lang="en-GB" dirty="0">
                <a:latin typeface="Consolas" panose="020B0609020204030204" pitchFamily="49" charset="0"/>
              </a:rPr>
              <a:t>Results</a:t>
            </a:r>
            <a:endParaRPr lang="en-AT" dirty="0">
              <a:latin typeface="Consolas" panose="020B0609020204030204" pitchFamily="49" charset="0"/>
            </a:endParaRPr>
          </a:p>
        </p:txBody>
      </p:sp>
      <p:pic>
        <p:nvPicPr>
          <p:cNvPr id="21" name="Picture 20" descr="A graph with blue and white bars&#10;&#10;AI-generated content may be incorrect.">
            <a:extLst>
              <a:ext uri="{FF2B5EF4-FFF2-40B4-BE49-F238E27FC236}">
                <a16:creationId xmlns:a16="http://schemas.microsoft.com/office/drawing/2014/main" id="{7538A437-384A-1D85-278D-C45A8712FC8A}"/>
              </a:ext>
            </a:extLst>
          </p:cNvPr>
          <p:cNvPicPr>
            <a:picLocks noChangeAspect="1"/>
          </p:cNvPicPr>
          <p:nvPr/>
        </p:nvPicPr>
        <p:blipFill>
          <a:blip r:embed="rId3">
            <a:grayscl/>
            <a:extLst>
              <a:ext uri="{28A0092B-C50C-407E-A947-70E740481C1C}">
                <a14:useLocalDpi xmlns:a14="http://schemas.microsoft.com/office/drawing/2010/main" val="0"/>
              </a:ext>
            </a:extLst>
          </a:blip>
          <a:stretch>
            <a:fillRect/>
          </a:stretch>
        </p:blipFill>
        <p:spPr>
          <a:xfrm>
            <a:off x="0" y="1259542"/>
            <a:ext cx="12192000" cy="3406158"/>
          </a:xfrm>
          <a:prstGeom prst="rect">
            <a:avLst/>
          </a:prstGeom>
          <a:effectLst>
            <a:outerShdw blurRad="50800" dist="50800" dir="5400000" algn="ctr" rotWithShape="0">
              <a:srgbClr val="000000"/>
            </a:outerShdw>
          </a:effectLst>
        </p:spPr>
      </p:pic>
      <p:pic>
        <p:nvPicPr>
          <p:cNvPr id="24" name="Picture 23" descr="A graph with blue and white stripes&#10;&#10;AI-generated content may be incorrect.">
            <a:extLst>
              <a:ext uri="{FF2B5EF4-FFF2-40B4-BE49-F238E27FC236}">
                <a16:creationId xmlns:a16="http://schemas.microsoft.com/office/drawing/2014/main" id="{D76A1B89-AE64-9F40-6E92-7384CBD7034F}"/>
              </a:ext>
            </a:extLst>
          </p:cNvPr>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0" y="3540899"/>
            <a:ext cx="12192000" cy="3406158"/>
          </a:xfrm>
          <a:prstGeom prst="rect">
            <a:avLst/>
          </a:prstGeom>
          <a:effectLst>
            <a:outerShdw blurRad="50800" dist="50800" dir="5400000" algn="ctr" rotWithShape="0">
              <a:srgbClr val="000000"/>
            </a:outerShdw>
          </a:effectLst>
        </p:spPr>
      </p:pic>
    </p:spTree>
    <p:extLst>
      <p:ext uri="{BB962C8B-B14F-4D97-AF65-F5344CB8AC3E}">
        <p14:creationId xmlns:p14="http://schemas.microsoft.com/office/powerpoint/2010/main" val="3803775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97236-E164-84A9-24F2-E45BC9725B6F}"/>
            </a:ext>
          </a:extLst>
        </p:cNvPr>
        <p:cNvGrpSpPr/>
        <p:nvPr/>
      </p:nvGrpSpPr>
      <p:grpSpPr>
        <a:xfrm>
          <a:off x="0" y="0"/>
          <a:ext cx="0" cy="0"/>
          <a:chOff x="0" y="0"/>
          <a:chExt cx="0" cy="0"/>
        </a:xfrm>
      </p:grpSpPr>
      <p:pic>
        <p:nvPicPr>
          <p:cNvPr id="21" name="Picture 20" descr="A graph with blue and white bars&#10;&#10;AI-generated content may be incorrect.">
            <a:extLst>
              <a:ext uri="{FF2B5EF4-FFF2-40B4-BE49-F238E27FC236}">
                <a16:creationId xmlns:a16="http://schemas.microsoft.com/office/drawing/2014/main" id="{0E211FCD-D298-A01D-645B-7D2B4FFD0D7B}"/>
              </a:ext>
            </a:extLst>
          </p:cNvPr>
          <p:cNvPicPr>
            <a:picLocks noChangeAspect="1"/>
          </p:cNvPicPr>
          <p:nvPr/>
        </p:nvPicPr>
        <p:blipFill>
          <a:blip r:embed="rId3">
            <a:grayscl/>
            <a:extLst>
              <a:ext uri="{28A0092B-C50C-407E-A947-70E740481C1C}">
                <a14:useLocalDpi xmlns:a14="http://schemas.microsoft.com/office/drawing/2010/main" val="0"/>
              </a:ext>
            </a:extLst>
          </a:blip>
          <a:stretch>
            <a:fillRect/>
          </a:stretch>
        </p:blipFill>
        <p:spPr>
          <a:xfrm>
            <a:off x="0" y="1259542"/>
            <a:ext cx="12192000" cy="3406158"/>
          </a:xfrm>
          <a:prstGeom prst="rect">
            <a:avLst/>
          </a:prstGeom>
        </p:spPr>
      </p:pic>
      <p:pic>
        <p:nvPicPr>
          <p:cNvPr id="9" name="Picture 8" descr="A graph with blue and white stripes&#10;&#10;AI-generated content may be incorrect.">
            <a:extLst>
              <a:ext uri="{FF2B5EF4-FFF2-40B4-BE49-F238E27FC236}">
                <a16:creationId xmlns:a16="http://schemas.microsoft.com/office/drawing/2014/main" id="{C7A36C36-88B2-3483-1441-3EFA1C94BEC6}"/>
              </a:ext>
            </a:extLst>
          </p:cNvPr>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0" y="3531934"/>
            <a:ext cx="12192000" cy="3406158"/>
          </a:xfrm>
          <a:prstGeom prst="rect">
            <a:avLst/>
          </a:prstGeom>
        </p:spPr>
      </p:pic>
      <p:sp>
        <p:nvSpPr>
          <p:cNvPr id="3" name="Rectangle 2">
            <a:extLst>
              <a:ext uri="{FF2B5EF4-FFF2-40B4-BE49-F238E27FC236}">
                <a16:creationId xmlns:a16="http://schemas.microsoft.com/office/drawing/2014/main" id="{D9882C11-5C57-E742-5E62-8819FE1D7C45}"/>
              </a:ext>
            </a:extLst>
          </p:cNvPr>
          <p:cNvSpPr/>
          <p:nvPr/>
        </p:nvSpPr>
        <p:spPr>
          <a:xfrm>
            <a:off x="10775577" y="1447477"/>
            <a:ext cx="551329" cy="43568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4" name="Rectangle 3">
            <a:extLst>
              <a:ext uri="{FF2B5EF4-FFF2-40B4-BE49-F238E27FC236}">
                <a16:creationId xmlns:a16="http://schemas.microsoft.com/office/drawing/2014/main" id="{5FEF312F-5FF3-ADF5-00D8-C9C052AF257F}"/>
              </a:ext>
            </a:extLst>
          </p:cNvPr>
          <p:cNvSpPr/>
          <p:nvPr/>
        </p:nvSpPr>
        <p:spPr>
          <a:xfrm>
            <a:off x="10107708" y="1447477"/>
            <a:ext cx="551329" cy="43568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6" name="TextBox 5">
            <a:extLst>
              <a:ext uri="{FF2B5EF4-FFF2-40B4-BE49-F238E27FC236}">
                <a16:creationId xmlns:a16="http://schemas.microsoft.com/office/drawing/2014/main" id="{6697E459-2235-EED1-8DC0-49502D9725B9}"/>
              </a:ext>
            </a:extLst>
          </p:cNvPr>
          <p:cNvSpPr txBox="1"/>
          <p:nvPr/>
        </p:nvSpPr>
        <p:spPr>
          <a:xfrm>
            <a:off x="10123397" y="999331"/>
            <a:ext cx="535640" cy="415498"/>
          </a:xfrm>
          <a:prstGeom prst="rect">
            <a:avLst/>
          </a:prstGeom>
          <a:solidFill>
            <a:schemeClr val="tx1"/>
          </a:solidFill>
        </p:spPr>
        <p:txBody>
          <a:bodyPr wrap="square" rtlCol="0">
            <a:spAutoFit/>
          </a:bodyPr>
          <a:lstStyle/>
          <a:p>
            <a:r>
              <a:rPr lang="en-GB" sz="1050" b="1" dirty="0">
                <a:solidFill>
                  <a:srgbClr val="FF0000"/>
                </a:solidFill>
              </a:rPr>
              <a:t>95 #</a:t>
            </a:r>
          </a:p>
          <a:p>
            <a:r>
              <a:rPr lang="en-GB" sz="1050" b="1" dirty="0">
                <a:solidFill>
                  <a:srgbClr val="FF0000"/>
                </a:solidFill>
              </a:rPr>
              <a:t>90 %</a:t>
            </a:r>
            <a:endParaRPr lang="en-AT" sz="1050" b="1" dirty="0">
              <a:solidFill>
                <a:srgbClr val="FF0000"/>
              </a:solidFill>
            </a:endParaRPr>
          </a:p>
        </p:txBody>
      </p:sp>
      <p:sp>
        <p:nvSpPr>
          <p:cNvPr id="7" name="TextBox 6">
            <a:extLst>
              <a:ext uri="{FF2B5EF4-FFF2-40B4-BE49-F238E27FC236}">
                <a16:creationId xmlns:a16="http://schemas.microsoft.com/office/drawing/2014/main" id="{FE4CD9AD-7FC0-73FC-B81F-574A6A9C74ED}"/>
              </a:ext>
            </a:extLst>
          </p:cNvPr>
          <p:cNvSpPr txBox="1"/>
          <p:nvPr/>
        </p:nvSpPr>
        <p:spPr>
          <a:xfrm>
            <a:off x="10791266" y="996941"/>
            <a:ext cx="535640" cy="415498"/>
          </a:xfrm>
          <a:prstGeom prst="rect">
            <a:avLst/>
          </a:prstGeom>
          <a:solidFill>
            <a:schemeClr val="tx1"/>
          </a:solidFill>
        </p:spPr>
        <p:txBody>
          <a:bodyPr wrap="square" rtlCol="0">
            <a:spAutoFit/>
          </a:bodyPr>
          <a:lstStyle/>
          <a:p>
            <a:r>
              <a:rPr lang="en-GB" sz="1050" b="1" dirty="0">
                <a:solidFill>
                  <a:srgbClr val="FF0000"/>
                </a:solidFill>
              </a:rPr>
              <a:t>95 #</a:t>
            </a:r>
          </a:p>
          <a:p>
            <a:r>
              <a:rPr lang="en-GB" sz="1050" b="1" dirty="0">
                <a:solidFill>
                  <a:srgbClr val="FF0000"/>
                </a:solidFill>
              </a:rPr>
              <a:t>92 %</a:t>
            </a:r>
            <a:endParaRPr lang="en-AT" sz="1050" b="1" dirty="0">
              <a:solidFill>
                <a:srgbClr val="FF0000"/>
              </a:solidFill>
            </a:endParaRPr>
          </a:p>
        </p:txBody>
      </p:sp>
      <p:sp>
        <p:nvSpPr>
          <p:cNvPr id="5" name="Title 1">
            <a:extLst>
              <a:ext uri="{FF2B5EF4-FFF2-40B4-BE49-F238E27FC236}">
                <a16:creationId xmlns:a16="http://schemas.microsoft.com/office/drawing/2014/main" id="{04EBC605-A23F-39B6-93F9-AC76E99EA894}"/>
              </a:ext>
            </a:extLst>
          </p:cNvPr>
          <p:cNvSpPr txBox="1">
            <a:spLocks/>
          </p:cNvSpPr>
          <p:nvPr/>
        </p:nvSpPr>
        <p:spPr>
          <a:xfrm>
            <a:off x="919119" y="180975"/>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GB" dirty="0">
                <a:latin typeface="Consolas" panose="020B0609020204030204" pitchFamily="49" charset="0"/>
              </a:rPr>
              <a:t>Results</a:t>
            </a:r>
            <a:endParaRPr lang="en-AT" dirty="0">
              <a:latin typeface="Consolas" panose="020B0609020204030204" pitchFamily="49" charset="0"/>
            </a:endParaRPr>
          </a:p>
        </p:txBody>
      </p:sp>
    </p:spTree>
    <p:extLst>
      <p:ext uri="{BB962C8B-B14F-4D97-AF65-F5344CB8AC3E}">
        <p14:creationId xmlns:p14="http://schemas.microsoft.com/office/powerpoint/2010/main" val="2383129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group of white speech bubbles with question marks and light bulb&#10;&#10;AI-generated content may be incorrect.">
            <a:extLst>
              <a:ext uri="{FF2B5EF4-FFF2-40B4-BE49-F238E27FC236}">
                <a16:creationId xmlns:a16="http://schemas.microsoft.com/office/drawing/2014/main" id="{6050C4D7-C893-1C56-CED5-14661426AA7A}"/>
              </a:ext>
            </a:extLst>
          </p:cNvPr>
          <p:cNvPicPr>
            <a:picLocks noChangeAspect="1"/>
          </p:cNvPicPr>
          <p:nvPr/>
        </p:nvPicPr>
        <p:blipFill>
          <a:blip r:embed="rId3">
            <a:extLst>
              <a:ext uri="{28A0092B-C50C-407E-A947-70E740481C1C}">
                <a14:useLocalDpi xmlns:a14="http://schemas.microsoft.com/office/drawing/2010/main" val="0"/>
              </a:ext>
            </a:extLst>
          </a:blip>
          <a:srcRect l="4273" r="6113" b="-1"/>
          <a:stretch>
            <a:fillRect/>
          </a:stretch>
        </p:blipFill>
        <p:spPr>
          <a:xfrm>
            <a:off x="2915455" y="10"/>
            <a:ext cx="9276545"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2" name="Title 1">
            <a:extLst>
              <a:ext uri="{FF2B5EF4-FFF2-40B4-BE49-F238E27FC236}">
                <a16:creationId xmlns:a16="http://schemas.microsoft.com/office/drawing/2014/main" id="{46FE4B27-60D4-B8B2-87CB-62D6922487A6}"/>
              </a:ext>
            </a:extLst>
          </p:cNvPr>
          <p:cNvSpPr>
            <a:spLocks noGrp="1"/>
          </p:cNvSpPr>
          <p:nvPr>
            <p:ph type="title"/>
          </p:nvPr>
        </p:nvSpPr>
        <p:spPr>
          <a:xfrm>
            <a:off x="661916" y="2852381"/>
            <a:ext cx="3161940" cy="2640247"/>
          </a:xfrm>
        </p:spPr>
        <p:txBody>
          <a:bodyPr vert="horz" lIns="91440" tIns="45720" rIns="91440" bIns="45720" rtlCol="0" anchor="b">
            <a:normAutofit/>
          </a:bodyPr>
          <a:lstStyle/>
          <a:p>
            <a:r>
              <a:rPr lang="en-US" sz="3600" dirty="0">
                <a:solidFill>
                  <a:schemeClr val="tx1">
                    <a:lumMod val="85000"/>
                    <a:lumOff val="15000"/>
                  </a:schemeClr>
                </a:solidFill>
              </a:rPr>
              <a:t>Q &amp; A</a:t>
            </a:r>
          </a:p>
        </p:txBody>
      </p:sp>
    </p:spTree>
    <p:extLst>
      <p:ext uri="{BB962C8B-B14F-4D97-AF65-F5344CB8AC3E}">
        <p14:creationId xmlns:p14="http://schemas.microsoft.com/office/powerpoint/2010/main" val="38511371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Custom 3">
      <a:majorFont>
        <a:latin typeface="Consolas"/>
        <a:ea typeface=""/>
        <a:cs typeface=""/>
      </a:majorFont>
      <a:minorFont>
        <a:latin typeface="Consolas"/>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5602</TotalTime>
  <Words>2006</Words>
  <Application>Microsoft Office PowerPoint</Application>
  <PresentationFormat>Widescreen</PresentationFormat>
  <Paragraphs>300</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Narrow</vt:lpstr>
      <vt:lpstr>Arial</vt:lpstr>
      <vt:lpstr>Consolas</vt:lpstr>
      <vt:lpstr>Wingdings</vt:lpstr>
      <vt:lpstr>Wingdings 2</vt:lpstr>
      <vt:lpstr>Slate</vt:lpstr>
      <vt:lpstr>Feasibility of Using Large Language Models for Requirement-Based Software Testing</vt:lpstr>
      <vt:lpstr>Software testing overview</vt:lpstr>
      <vt:lpstr>Focus of this study –  Acceptance Testing</vt:lpstr>
      <vt:lpstr>Experimental Setup</vt:lpstr>
      <vt:lpstr>Experimental Setup</vt:lpstr>
      <vt:lpstr>Experimental Setup</vt:lpstr>
      <vt:lpstr>Prompt Engineering techniques</vt:lpstr>
      <vt:lpstr>Models - Deepseek-r1</vt:lpstr>
      <vt:lpstr>Results</vt:lpstr>
      <vt:lpstr>PowerPoint Presentation</vt:lpstr>
      <vt:lpstr>RE-503 continued</vt:lpstr>
      <vt:lpstr>Results</vt:lpstr>
      <vt:lpstr>PowerPoint Presentation</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Seyr, Alexander Josef</dc:creator>
  <cp:lastModifiedBy>Seyr, Alexander Josef</cp:lastModifiedBy>
  <cp:revision>54</cp:revision>
  <dcterms:created xsi:type="dcterms:W3CDTF">2025-04-14T13:51:31Z</dcterms:created>
  <dcterms:modified xsi:type="dcterms:W3CDTF">2025-06-03T19:38:58Z</dcterms:modified>
</cp:coreProperties>
</file>