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8" r:id="rId3"/>
    <p:sldId id="264" r:id="rId4"/>
    <p:sldId id="260" r:id="rId5"/>
    <p:sldId id="261" r:id="rId6"/>
    <p:sldId id="266" r:id="rId7"/>
    <p:sldId id="262" r:id="rId8"/>
    <p:sldId id="269" r:id="rId9"/>
    <p:sldId id="263" r:id="rId10"/>
    <p:sldId id="270" r:id="rId11"/>
    <p:sldId id="265" r:id="rId12"/>
    <p:sldId id="268" r:id="rId13"/>
    <p:sldId id="267" r:id="rId14"/>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27" autoAdjust="0"/>
    <p:restoredTop sz="63484" autoAdjust="0"/>
  </p:normalViewPr>
  <p:slideViewPr>
    <p:cSldViewPr snapToGrid="0">
      <p:cViewPr varScale="1">
        <p:scale>
          <a:sx n="101" d="100"/>
          <a:sy n="101" d="100"/>
        </p:scale>
        <p:origin x="258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1CC868-F01F-4D3C-B0FF-9A3075033AE5}" type="datetimeFigureOut">
              <a:rPr lang="en-AT" smtClean="0"/>
              <a:t>02/06/2025</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C8DF60-03EB-41BF-AD08-E11AFAEB47A5}" type="slidenum">
              <a:rPr lang="en-AT" smtClean="0"/>
              <a:t>‹#›</a:t>
            </a:fld>
            <a:endParaRPr lang="en-AT"/>
          </a:p>
        </p:txBody>
      </p:sp>
    </p:spTree>
    <p:extLst>
      <p:ext uri="{BB962C8B-B14F-4D97-AF65-F5344CB8AC3E}">
        <p14:creationId xmlns:p14="http://schemas.microsoft.com/office/powerpoint/2010/main" val="417383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nd.edu/"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a:t>
            </a:fld>
            <a:endParaRPr lang="en-AT"/>
          </a:p>
        </p:txBody>
      </p:sp>
    </p:spTree>
    <p:extLst>
      <p:ext uri="{BB962C8B-B14F-4D97-AF65-F5344CB8AC3E}">
        <p14:creationId xmlns:p14="http://schemas.microsoft.com/office/powerpoint/2010/main" val="13223447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 we all know we need software tests to ensure a certain quality of the applicaton.</a:t>
            </a:r>
          </a:p>
          <a:p>
            <a:r>
              <a:rPr lang="en-GB" dirty="0"/>
              <a:t>Now to which extend testing is done is dependent mostly on </a:t>
            </a:r>
          </a:p>
          <a:p>
            <a:pPr marL="171450" indent="-171450">
              <a:buFontTx/>
              <a:buChar char="-"/>
            </a:pPr>
            <a:r>
              <a:rPr lang="en-GB" dirty="0"/>
              <a:t>the domain (how much security, contraints, …)</a:t>
            </a:r>
          </a:p>
          <a:p>
            <a:pPr marL="171450" indent="-171450">
              <a:buFontTx/>
              <a:buChar char="-"/>
            </a:pPr>
            <a:r>
              <a:rPr lang="en-GB" dirty="0"/>
              <a:t>and availability of resources (human resource, financal).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-&gt; trade off between under and over testing and cost</a:t>
            </a:r>
          </a:p>
          <a:p>
            <a:endParaRPr lang="en-GB" dirty="0"/>
          </a:p>
          <a:p>
            <a:r>
              <a:rPr lang="en-GB" dirty="0"/>
              <a:t>In practice a lot of manual work in many situations repetitive and at some point lets be honest boring.</a:t>
            </a:r>
          </a:p>
          <a:p>
            <a:r>
              <a:rPr lang="en-GB" dirty="0"/>
              <a:t>As many tests are quite simple.</a:t>
            </a:r>
          </a:p>
          <a:p>
            <a:r>
              <a:rPr lang="en-GB" dirty="0"/>
              <a:t>Even tho not as bad as writing documentation.</a:t>
            </a:r>
          </a:p>
          <a:p>
            <a:endParaRPr lang="en-GB" dirty="0"/>
          </a:p>
          <a:p>
            <a:r>
              <a:rPr lang="en-GB" dirty="0"/>
              <a:t>I think that’s one of the main reasons why this is such an interesting application for LLM’s. (engineers lazy / boring work -&gt; lets automate)</a:t>
            </a:r>
          </a:p>
          <a:p>
            <a:r>
              <a:rPr lang="en-GB" dirty="0"/>
              <a:t>LLM with their inreasing capabilities open up possibilities to change the classic approach and potentially minimize or optimize the testing procedure.</a:t>
            </a:r>
          </a:p>
          <a:p>
            <a:endParaRPr lang="en-GB" dirty="0"/>
          </a:p>
          <a:p>
            <a:r>
              <a:rPr lang="en-GB" dirty="0"/>
              <a:t>With that being said there are in general four types of testing strategies.</a:t>
            </a:r>
          </a:p>
          <a:p>
            <a:pPr marL="171450" indent="-171450">
              <a:buFontTx/>
              <a:buChar char="-"/>
            </a:pPr>
            <a:r>
              <a:rPr lang="en-GB" dirty="0"/>
              <a:t>Unit testing: smallest testable part (done by developer)</a:t>
            </a:r>
          </a:p>
          <a:p>
            <a:pPr marL="628650" lvl="1" indent="-171450">
              <a:buFontTx/>
              <a:buChar char="-"/>
            </a:pPr>
            <a:r>
              <a:rPr lang="en-GB" dirty="0"/>
              <a:t>LLM already very capable much research - automating unit test generation for high coverage</a:t>
            </a:r>
          </a:p>
          <a:p>
            <a:pPr marL="628650" lvl="1" indent="-171450">
              <a:buFontTx/>
              <a:buChar char="-"/>
            </a:pPr>
            <a:r>
              <a:rPr lang="en-GB" dirty="0"/>
              <a:t>From my experience not yet established very well in the industry</a:t>
            </a:r>
          </a:p>
          <a:p>
            <a:pPr marL="171450" indent="-171450">
              <a:buFontTx/>
              <a:buChar char="-"/>
            </a:pPr>
            <a:r>
              <a:rPr lang="en-GB" dirty="0"/>
              <a:t>Integration testing: integrate unit tested component and test them as a group – interfacing</a:t>
            </a:r>
          </a:p>
          <a:p>
            <a:pPr marL="628650" lvl="1" indent="-171450">
              <a:buFontTx/>
              <a:buChar char="-"/>
            </a:pPr>
            <a:r>
              <a:rPr lang="en-GB" dirty="0"/>
              <a:t>Research??</a:t>
            </a:r>
          </a:p>
          <a:p>
            <a:pPr marL="171450" indent="-171450">
              <a:buFontTx/>
              <a:buChar char="-"/>
            </a:pPr>
            <a:r>
              <a:rPr lang="en-GB" dirty="0"/>
              <a:t>Acceptance/Validation testing: authenticate whether product is developed as per standards and detailed criteria and meets all requirements specified by the user</a:t>
            </a:r>
          </a:p>
          <a:p>
            <a:pPr marL="628650" lvl="1" indent="-171450">
              <a:buFontTx/>
              <a:buChar char="-"/>
            </a:pPr>
            <a:r>
              <a:rPr lang="en-GB" dirty="0"/>
              <a:t>Research??</a:t>
            </a:r>
          </a:p>
          <a:p>
            <a:pPr marL="171450" indent="-171450">
              <a:buFontTx/>
              <a:buChar char="-"/>
            </a:pPr>
            <a:r>
              <a:rPr lang="en-GB" dirty="0"/>
              <a:t>System testing: testing done on complete integrated system</a:t>
            </a:r>
          </a:p>
          <a:p>
            <a:pPr marL="628650" lvl="1" indent="-171450">
              <a:buFontTx/>
              <a:buChar char="-"/>
            </a:pPr>
            <a:r>
              <a:rPr lang="en-GB" dirty="0"/>
              <a:t>Many LLM applications-&gt; software already done for the most part. (mainly for GUI testing mobile apps)</a:t>
            </a:r>
          </a:p>
          <a:p>
            <a:pPr marL="628650" lvl="1" indent="-171450">
              <a:buFontTx/>
              <a:buChar char="-"/>
            </a:pPr>
            <a:r>
              <a:rPr lang="en-GB" dirty="0"/>
              <a:t>Generating test scenarios for the whole system</a:t>
            </a:r>
          </a:p>
          <a:p>
            <a:endParaRPr lang="en-GB" dirty="0"/>
          </a:p>
          <a:p>
            <a:r>
              <a:rPr lang="en-GB" dirty="0"/>
              <a:t>Even projects which act as a whole development team (archcode) -&gt; given problem statement and system goes through the whole process of</a:t>
            </a:r>
          </a:p>
          <a:p>
            <a:r>
              <a:rPr lang="en-GB" dirty="0"/>
              <a:t>Defining requirements, creating testcases and implementation.</a:t>
            </a:r>
          </a:p>
          <a:p>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2</a:t>
            </a:fld>
            <a:endParaRPr lang="en-AT"/>
          </a:p>
        </p:txBody>
      </p:sp>
    </p:spTree>
    <p:extLst>
      <p:ext uri="{BB962C8B-B14F-4D97-AF65-F5344CB8AC3E}">
        <p14:creationId xmlns:p14="http://schemas.microsoft.com/office/powerpoint/2010/main" val="638221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What I am interested in and where I also found little research is trying to utilize the software requirements as a resource to generate testcases.</a:t>
            </a:r>
          </a:p>
          <a:p>
            <a:endParaRPr lang="en-GB" dirty="0"/>
          </a:p>
          <a:p>
            <a:r>
              <a:rPr lang="en-GB" dirty="0"/>
              <a:t>As in industrial settings integrating LLM’s in the development processes will be a step by step process.</a:t>
            </a:r>
          </a:p>
          <a:p>
            <a:endParaRPr lang="en-GB" dirty="0"/>
          </a:p>
          <a:p>
            <a:r>
              <a:rPr lang="en-GB" dirty="0"/>
              <a:t>Since for unit testing they are already commonly used, I wanted to approach the topic from the other direction starting at the requirements.</a:t>
            </a:r>
          </a:p>
          <a:p>
            <a:pPr marL="171450" indent="-171450">
              <a:buFont typeface="Wingdings" panose="05000000000000000000" pitchFamily="2" charset="2"/>
              <a:buChar char="è"/>
            </a:pPr>
            <a:r>
              <a:rPr lang="en-GB" dirty="0"/>
              <a:t> acceptance testing</a:t>
            </a:r>
          </a:p>
          <a:p>
            <a:endParaRPr lang="en-GB" dirty="0"/>
          </a:p>
          <a:p>
            <a:r>
              <a:rPr lang="en-GB" dirty="0"/>
              <a:t>High confidence that requirements are met is required at an early stage of developement. </a:t>
            </a:r>
          </a:p>
          <a:p>
            <a:endParaRPr lang="en-GB" dirty="0"/>
          </a:p>
          <a:p>
            <a:r>
              <a:rPr lang="en-GB" dirty="0"/>
              <a:t>Requirements usually short precise definition of expected behaviour.</a:t>
            </a:r>
          </a:p>
          <a:p>
            <a:r>
              <a:rPr lang="en-GB" dirty="0"/>
              <a:t>I am interested in how capable LLM’s are in generating structured test case description out of natural language requirements.</a:t>
            </a:r>
          </a:p>
          <a:p>
            <a:r>
              <a:rPr lang="en-GB" dirty="0"/>
              <a:t>Especially in techincal domains.</a:t>
            </a:r>
          </a:p>
          <a:p>
            <a:endParaRPr lang="en-GB" dirty="0"/>
          </a:p>
          <a:p>
            <a:r>
              <a:rPr lang="en-GB" dirty="0"/>
              <a:t>Vision that in the future the approach would be a semi automatic acceptance testing pipeline with human in the loop.</a:t>
            </a:r>
          </a:p>
          <a:p>
            <a:endParaRPr lang="en-GB" dirty="0"/>
          </a:p>
          <a:p>
            <a:r>
              <a:rPr lang="en-GB" dirty="0"/>
              <a:t>requirements -&gt; LLM -&gt; TC’s + Human verification as a first part of the pipeline</a:t>
            </a:r>
          </a:p>
          <a:p>
            <a:r>
              <a:rPr lang="en-GB" dirty="0"/>
              <a:t>-&gt; LLM -&gt; implementation human or machine + verification through gernerated TC + Human verification</a:t>
            </a:r>
          </a:p>
          <a:p>
            <a:endParaRPr lang="en-GB" dirty="0"/>
          </a:p>
          <a:p>
            <a:r>
              <a:rPr lang="en-GB" dirty="0"/>
              <a:t>First we need to get an impression of how capable the models are to understand the requirements.</a:t>
            </a:r>
            <a:endParaRPr lang="en-AT" dirty="0"/>
          </a:p>
          <a:p>
            <a:endParaRPr lang="en-GB" dirty="0"/>
          </a:p>
          <a:p>
            <a:endParaRPr lang="en-GB" dirty="0"/>
          </a:p>
          <a:p>
            <a:pPr marL="0" indent="0">
              <a:buNone/>
            </a:pPr>
            <a:endParaRPr lang="en-GB" dirty="0"/>
          </a:p>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3</a:t>
            </a:fld>
            <a:endParaRPr lang="en-AT"/>
          </a:p>
        </p:txBody>
      </p:sp>
    </p:spTree>
    <p:extLst>
      <p:ext uri="{BB962C8B-B14F-4D97-AF65-F5344CB8AC3E}">
        <p14:creationId xmlns:p14="http://schemas.microsoft.com/office/powerpoint/2010/main" val="35417486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an experimental setup I first thought about the evaluation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the difficulty should not be to generate output, but to evaluate the quality of the output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Therefore I created a framework for structured test descriptions.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General structure shall be enforced using JSON which is a common way to get structured output from a LLM -&gt; this already introduces a kind of directional stimulus.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onsolas" panose="020B0609020204030204" pitchFamily="49" charset="0"/>
              </a:rPr>
              <a:t>Requirement, test objective, preconditions, test steps, expected result </a:t>
            </a:r>
            <a:endParaRPr lang="en-GB" dirty="0">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Using prompt engineering techniques to generate testcase for each requirement.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Implement validation structure for each component of the test description for a first quality estimate of model and prompt.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Requirement -&gt; high cosine similarity with original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Use spacy pos tagging to verify expected field characteristics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shall be present tense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testObjective -&gt; describes the goal shall start with a verb</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preconditions -&gt; describes a state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testSteps -&gt; generic check for list of sentences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Expected results -&gt;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 last step human verification.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4</a:t>
            </a:fld>
            <a:endParaRPr lang="en-AT"/>
          </a:p>
        </p:txBody>
      </p:sp>
    </p:spTree>
    <p:extLst>
      <p:ext uri="{BB962C8B-B14F-4D97-AF65-F5344CB8AC3E}">
        <p14:creationId xmlns:p14="http://schemas.microsoft.com/office/powerpoint/2010/main" val="2692396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also want to quickly talk about the domain </a:t>
            </a:r>
          </a:p>
          <a:p>
            <a:r>
              <a:rPr lang="en-GB" dirty="0"/>
              <a:t>Dronology is an Open-Source Unmanned Aerial System (UAS) developed at the </a:t>
            </a:r>
            <a:r>
              <a:rPr lang="en-GB" dirty="0">
                <a:hlinkClick r:id="rId3"/>
              </a:rPr>
              <a:t>University of Notre Dame</a:t>
            </a:r>
            <a:r>
              <a:rPr lang="en-GB" dirty="0"/>
              <a:t>. </a:t>
            </a:r>
            <a:br>
              <a:rPr lang="en-GB" dirty="0"/>
            </a:br>
            <a:endParaRPr lang="en-GB" dirty="0"/>
          </a:p>
          <a:p>
            <a:r>
              <a:rPr lang="en-GB" dirty="0"/>
              <a:t>Two goals:</a:t>
            </a:r>
          </a:p>
          <a:p>
            <a:pPr marL="171450" indent="-171450">
              <a:buFont typeface="Wingdings" panose="05000000000000000000" pitchFamily="2" charset="2"/>
              <a:buChar char="è"/>
            </a:pPr>
            <a:r>
              <a:rPr lang="en-GB" b="1" dirty="0"/>
              <a:t>establish a research environment</a:t>
            </a:r>
            <a:r>
              <a:rPr lang="en-GB" dirty="0"/>
              <a:t> for studying various aspects of software and systems engineering for cyber-physical systems -&gt; that’s why requirements public</a:t>
            </a:r>
          </a:p>
          <a:p>
            <a:pPr marL="171450" indent="-171450">
              <a:buFont typeface="Wingdings" panose="05000000000000000000" pitchFamily="2" charset="2"/>
              <a:buChar char="è"/>
            </a:pPr>
            <a:r>
              <a:rPr lang="en-GB" dirty="0"/>
              <a:t>to </a:t>
            </a:r>
            <a:r>
              <a:rPr lang="en-GB" b="1" dirty="0"/>
              <a:t>provide a framework for controlling and coordinating the flight</a:t>
            </a:r>
            <a:r>
              <a:rPr lang="en-GB" dirty="0"/>
              <a:t> of individual UAS, formations, and swarms in order to to support applications such as search-and-rescue, surveillance, and scientific data collection.</a:t>
            </a:r>
          </a:p>
          <a:p>
            <a:endParaRPr lang="en-GB" dirty="0"/>
          </a:p>
          <a:p>
            <a:r>
              <a:rPr lang="en-GB" dirty="0"/>
              <a:t>It is designed around the concept of a Dronology Core</a:t>
            </a:r>
          </a:p>
          <a:p>
            <a:r>
              <a:rPr lang="en-GB" dirty="0"/>
              <a:t>Services middleware that support UI development </a:t>
            </a:r>
          </a:p>
          <a:p>
            <a:r>
              <a:rPr lang="en-GB" dirty="0"/>
              <a:t>Groundstation middleware that supports communication with diverse UAS. </a:t>
            </a:r>
          </a:p>
          <a:p>
            <a:br>
              <a:rPr lang="en-GB" dirty="0"/>
            </a:br>
            <a:r>
              <a:rPr lang="en-GB" dirty="0"/>
              <a:t>Dronology Core provides features for coordinating the flights of multiple sUAS in a shared airspace. </a:t>
            </a:r>
          </a:p>
          <a:p>
            <a:r>
              <a:rPr lang="en-GB" dirty="0"/>
              <a:t>This includes centralized collision avoidance, fleet management, internal simulator, and management of vehicle status.</a:t>
            </a:r>
          </a:p>
          <a:p>
            <a:r>
              <a:rPr lang="en-GB" dirty="0"/>
              <a:t>Dronology services are used by various clients to construct user interfaces. </a:t>
            </a:r>
          </a:p>
          <a:p>
            <a:r>
              <a:rPr lang="en-GB" dirty="0"/>
              <a:t>The services can be used to perform tasks such as upload flight plans, activate UASs, observe and visualize UAS flights, and register equipment to individual UAS.</a:t>
            </a:r>
          </a:p>
          <a:p>
            <a:br>
              <a:rPr lang="en-GB" dirty="0"/>
            </a:br>
            <a:r>
              <a:rPr lang="en-GB" dirty="0"/>
              <a:t>The ground station middleware provides a bridge between the Dronology core and a diverse set of ground stations.  </a:t>
            </a:r>
          </a:p>
          <a:p>
            <a:r>
              <a:rPr lang="en-GB" dirty="0"/>
              <a:t>The middleware allows registration of a new ground station.  </a:t>
            </a:r>
          </a:p>
          <a:p>
            <a:r>
              <a:rPr lang="en-GB" dirty="0"/>
              <a:t>It passes directives from the Dronology core to UAVs registered through their respective ground stations, and forwards UAV data, such as their GPS coordinates from the ground station back to the the core.</a:t>
            </a:r>
            <a:br>
              <a:rPr lang="en-GB" dirty="0"/>
            </a:br>
            <a:r>
              <a:rPr lang="en-GB" dirty="0"/>
              <a:t>Groundstations are responsible for communicating directly with the physical or externally simulated UAVs.  </a:t>
            </a:r>
          </a:p>
        </p:txBody>
      </p:sp>
      <p:sp>
        <p:nvSpPr>
          <p:cNvPr id="4" name="Slide Number Placeholder 3"/>
          <p:cNvSpPr>
            <a:spLocks noGrp="1"/>
          </p:cNvSpPr>
          <p:nvPr>
            <p:ph type="sldNum" sz="quarter" idx="5"/>
          </p:nvPr>
        </p:nvSpPr>
        <p:spPr/>
        <p:txBody>
          <a:bodyPr/>
          <a:lstStyle/>
          <a:p>
            <a:fld id="{75C8DF60-03EB-41BF-AD08-E11AFAEB47A5}" type="slidenum">
              <a:rPr lang="en-AT" smtClean="0"/>
              <a:t>5</a:t>
            </a:fld>
            <a:endParaRPr lang="en-AT"/>
          </a:p>
        </p:txBody>
      </p:sp>
    </p:spTree>
    <p:extLst>
      <p:ext uri="{BB962C8B-B14F-4D97-AF65-F5344CB8AC3E}">
        <p14:creationId xmlns:p14="http://schemas.microsoft.com/office/powerpoint/2010/main" val="39643144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Total of 97 requirements</a:t>
            </a:r>
          </a:p>
          <a:p>
            <a:r>
              <a:rPr lang="en-GB" dirty="0"/>
              <a:t>Examples shown, always a trade off of how much time and effort you put into the requirements.</a:t>
            </a:r>
          </a:p>
          <a:p>
            <a:r>
              <a:rPr lang="en-GB" dirty="0"/>
              <a:t>Requirements engineering its own topic</a:t>
            </a:r>
          </a:p>
          <a:p>
            <a:endParaRPr lang="en-GB" dirty="0"/>
          </a:p>
          <a:p>
            <a:r>
              <a:rPr lang="en-GB" dirty="0"/>
              <a:t>Biggest factor therefore are definitions of requirements </a:t>
            </a:r>
          </a:p>
          <a:p>
            <a:pPr marL="171450" indent="-171450">
              <a:buFontTx/>
              <a:buChar char="-"/>
            </a:pPr>
            <a:r>
              <a:rPr lang="en-GB" dirty="0"/>
              <a:t>how detailed requirements are defined – usually using natural language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room for interpretation – possible conflicts, … but definition is another topic (verifying requirements for completeness, integrity, …. Is another story)</a:t>
            </a:r>
          </a:p>
          <a:p>
            <a:pPr marL="171450" indent="-171450">
              <a:buFontTx/>
              <a:buChar char="-"/>
            </a:pPr>
            <a:r>
              <a:rPr lang="en-GB" dirty="0"/>
              <a:t>requirements define what the system must to but not how.</a:t>
            </a:r>
          </a:p>
          <a:p>
            <a:pPr marL="171450" indent="-171450">
              <a:buFontTx/>
              <a:buChar char="-"/>
            </a:pPr>
            <a:r>
              <a:rPr lang="en-GB" dirty="0"/>
              <a:t>basic functionality of a system shall be tested through simple testcases that relate to at least one requirement.</a:t>
            </a:r>
          </a:p>
          <a:p>
            <a:endParaRPr lang="en-GB" dirty="0"/>
          </a:p>
          <a:p>
            <a:r>
              <a:rPr lang="en-GB" dirty="0"/>
              <a:t>(Website says source code will be available in the future)</a:t>
            </a:r>
          </a:p>
        </p:txBody>
      </p:sp>
      <p:sp>
        <p:nvSpPr>
          <p:cNvPr id="4" name="Slide Number Placeholder 3"/>
          <p:cNvSpPr>
            <a:spLocks noGrp="1"/>
          </p:cNvSpPr>
          <p:nvPr>
            <p:ph type="sldNum" sz="quarter" idx="5"/>
          </p:nvPr>
        </p:nvSpPr>
        <p:spPr/>
        <p:txBody>
          <a:bodyPr/>
          <a:lstStyle/>
          <a:p>
            <a:fld id="{75C8DF60-03EB-41BF-AD08-E11AFAEB47A5}" type="slidenum">
              <a:rPr lang="en-AT" smtClean="0"/>
              <a:t>6</a:t>
            </a:fld>
            <a:endParaRPr lang="en-AT"/>
          </a:p>
        </p:txBody>
      </p:sp>
    </p:spTree>
    <p:extLst>
      <p:ext uri="{BB962C8B-B14F-4D97-AF65-F5344CB8AC3E}">
        <p14:creationId xmlns:p14="http://schemas.microsoft.com/office/powerpoint/2010/main" val="9130134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Shortly discuss the prompt engineering techniques I focused on.</a:t>
            </a:r>
          </a:p>
          <a:p>
            <a:endParaRPr lang="en-GB" dirty="0"/>
          </a:p>
          <a:p>
            <a:r>
              <a:rPr lang="en-GB" dirty="0"/>
              <a:t>As a baseline Zero shot learning was used with directional stimulus</a:t>
            </a:r>
          </a:p>
          <a:p>
            <a:pPr marL="171450" indent="-171450">
              <a:buFont typeface="Wingdings" panose="05000000000000000000" pitchFamily="2" charset="2"/>
              <a:buChar char="è"/>
            </a:pPr>
            <a:r>
              <a:rPr lang="en-GB" dirty="0"/>
              <a:t>Json test description structure can be seen as providing directional stimulus</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Personas – software tester + json structure</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TOT – multiple experts discussing solution if one is wrong he steps back + json structure</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Providing context</a:t>
            </a:r>
          </a:p>
          <a:p>
            <a:pPr marL="171450" indent="-171450">
              <a:buFont typeface="Wingdings" panose="05000000000000000000" pitchFamily="2" charset="2"/>
              <a:buChar char="è"/>
            </a:pPr>
            <a:r>
              <a:rPr lang="en-GB" dirty="0"/>
              <a:t>First in form of introduction of dronology design</a:t>
            </a:r>
          </a:p>
          <a:p>
            <a:pPr marL="171450" indent="-171450">
              <a:buFont typeface="Wingdings" panose="05000000000000000000" pitchFamily="2" charset="2"/>
              <a:buChar char="è"/>
            </a:pPr>
            <a:r>
              <a:rPr lang="en-GB" dirty="0"/>
              <a:t>Preparsing all requirements + TOT</a:t>
            </a:r>
          </a:p>
          <a:p>
            <a:pPr marL="0" indent="0">
              <a:buFont typeface="Wingdings" panose="05000000000000000000" pitchFamily="2" charset="2"/>
              <a:buNone/>
            </a:pPr>
            <a:endParaRPr lang="en-GB" dirty="0"/>
          </a:p>
          <a:p>
            <a:pPr marL="0" indent="0">
              <a:buFont typeface="Wingdings" panose="05000000000000000000" pitchFamily="2" charset="2"/>
              <a:buNone/>
            </a:pPr>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7</a:t>
            </a:fld>
            <a:endParaRPr lang="en-AT"/>
          </a:p>
        </p:txBody>
      </p:sp>
    </p:spTree>
    <p:extLst>
      <p:ext uri="{BB962C8B-B14F-4D97-AF65-F5344CB8AC3E}">
        <p14:creationId xmlns:p14="http://schemas.microsoft.com/office/powerpoint/2010/main" val="36431684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Deepseek made quite the news when it was published.</a:t>
            </a:r>
          </a:p>
          <a:p>
            <a:r>
              <a:rPr lang="en-GB" dirty="0"/>
              <a:t>and has also shown that reasoning patterns of large models can be distilled into smaller ones.</a:t>
            </a:r>
          </a:p>
          <a:p>
            <a:r>
              <a:rPr lang="en-GB" dirty="0"/>
              <a:t>Smaller perform better if learning from bigger than learning on their own (through RL)</a:t>
            </a:r>
          </a:p>
          <a:p>
            <a:endParaRPr lang="en-GB" dirty="0"/>
          </a:p>
          <a:p>
            <a:r>
              <a:rPr lang="en-GB" dirty="0"/>
              <a:t>This allows to run LLM’s locally with limited resources and fully independent.</a:t>
            </a:r>
          </a:p>
          <a:p>
            <a:r>
              <a:rPr lang="en-GB" dirty="0"/>
              <a:t>Which is usually required when when developing software as most of the time we don’t want the requirements to be public.</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Therefore I wanted to see whats possible with distilled models.</a:t>
            </a:r>
          </a:p>
          <a:p>
            <a:pPr marL="0" indent="0">
              <a:buFont typeface="Wingdings" panose="05000000000000000000" pitchFamily="2" charset="2"/>
              <a:buNone/>
            </a:pPr>
            <a:r>
              <a:rPr lang="en-GB" dirty="0"/>
              <a:t>To make the results comparable I used a fixed set of model parameters across distilled versions.</a:t>
            </a:r>
          </a:p>
        </p:txBody>
      </p:sp>
      <p:sp>
        <p:nvSpPr>
          <p:cNvPr id="4" name="Slide Number Placeholder 3"/>
          <p:cNvSpPr>
            <a:spLocks noGrp="1"/>
          </p:cNvSpPr>
          <p:nvPr>
            <p:ph type="sldNum" sz="quarter" idx="5"/>
          </p:nvPr>
        </p:nvSpPr>
        <p:spPr/>
        <p:txBody>
          <a:bodyPr/>
          <a:lstStyle/>
          <a:p>
            <a:fld id="{75C8DF60-03EB-41BF-AD08-E11AFAEB47A5}" type="slidenum">
              <a:rPr lang="en-AT" smtClean="0"/>
              <a:t>8</a:t>
            </a:fld>
            <a:endParaRPr lang="en-AT"/>
          </a:p>
        </p:txBody>
      </p:sp>
    </p:spTree>
    <p:extLst>
      <p:ext uri="{BB962C8B-B14F-4D97-AF65-F5344CB8AC3E}">
        <p14:creationId xmlns:p14="http://schemas.microsoft.com/office/powerpoint/2010/main" val="1271802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Upper bar chart shows percentage of valid entries per model and prompt variation – sorted from worse to best</a:t>
            </a:r>
          </a:p>
          <a:p>
            <a:r>
              <a:rPr lang="en-GB" b="0" dirty="0"/>
              <a:t>So including all field checks, if any single field check fails it is counted as an invalid entry.</a:t>
            </a:r>
          </a:p>
          <a:p>
            <a:endParaRPr lang="en-GB" b="0" dirty="0"/>
          </a:p>
          <a:p>
            <a:r>
              <a:rPr lang="en-GB" b="0" dirty="0"/>
              <a:t>Lower bar chart shows number of valid entries per model and prompt variation</a:t>
            </a:r>
          </a:p>
          <a:p>
            <a:r>
              <a:rPr lang="en-GB" b="0" dirty="0"/>
              <a:t>Only from a json template point of view. Valid entry here means the model was able to generate the expected json template.</a:t>
            </a:r>
          </a:p>
        </p:txBody>
      </p:sp>
      <p:sp>
        <p:nvSpPr>
          <p:cNvPr id="4" name="Slide Number Placeholder 3"/>
          <p:cNvSpPr>
            <a:spLocks noGrp="1"/>
          </p:cNvSpPr>
          <p:nvPr>
            <p:ph type="sldNum" sz="quarter" idx="5"/>
          </p:nvPr>
        </p:nvSpPr>
        <p:spPr/>
        <p:txBody>
          <a:bodyPr/>
          <a:lstStyle/>
          <a:p>
            <a:fld id="{75C8DF60-03EB-41BF-AD08-E11AFAEB47A5}" type="slidenum">
              <a:rPr lang="en-AT" smtClean="0"/>
              <a:t>9</a:t>
            </a:fld>
            <a:endParaRPr lang="en-AT"/>
          </a:p>
        </p:txBody>
      </p:sp>
    </p:spTree>
    <p:extLst>
      <p:ext uri="{BB962C8B-B14F-4D97-AF65-F5344CB8AC3E}">
        <p14:creationId xmlns:p14="http://schemas.microsoft.com/office/powerpoint/2010/main" val="40612387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30FB1-8E47-85F2-CF8A-538624B30C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17DF9A-89D2-0EE6-5822-E92798831F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4EAD9-D1DF-FC35-C065-9A6F79BFDBE1}"/>
              </a:ext>
            </a:extLst>
          </p:cNvPr>
          <p:cNvSpPr>
            <a:spLocks noGrp="1"/>
          </p:cNvSpPr>
          <p:nvPr>
            <p:ph type="body" idx="1"/>
          </p:nvPr>
        </p:nvSpPr>
        <p:spPr/>
        <p:txBody>
          <a:bodyPr/>
          <a:lstStyle/>
          <a:p>
            <a:endParaRPr lang="en-GB" b="0" dirty="0"/>
          </a:p>
        </p:txBody>
      </p:sp>
      <p:sp>
        <p:nvSpPr>
          <p:cNvPr id="4" name="Slide Number Placeholder 3">
            <a:extLst>
              <a:ext uri="{FF2B5EF4-FFF2-40B4-BE49-F238E27FC236}">
                <a16:creationId xmlns:a16="http://schemas.microsoft.com/office/drawing/2014/main" id="{A471498F-773C-52EB-5319-AC8D23EF2937}"/>
              </a:ext>
            </a:extLst>
          </p:cNvPr>
          <p:cNvSpPr>
            <a:spLocks noGrp="1"/>
          </p:cNvSpPr>
          <p:nvPr>
            <p:ph type="sldNum" sz="quarter" idx="5"/>
          </p:nvPr>
        </p:nvSpPr>
        <p:spPr/>
        <p:txBody>
          <a:bodyPr/>
          <a:lstStyle/>
          <a:p>
            <a:fld id="{75C8DF60-03EB-41BF-AD08-E11AFAEB47A5}" type="slidenum">
              <a:rPr lang="en-AT" smtClean="0"/>
              <a:t>10</a:t>
            </a:fld>
            <a:endParaRPr lang="en-AT"/>
          </a:p>
        </p:txBody>
      </p:sp>
    </p:spTree>
    <p:extLst>
      <p:ext uri="{BB962C8B-B14F-4D97-AF65-F5344CB8AC3E}">
        <p14:creationId xmlns:p14="http://schemas.microsoft.com/office/powerpoint/2010/main" val="31920886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11</a:t>
            </a:fld>
            <a:endParaRPr lang="en-AT"/>
          </a:p>
        </p:txBody>
      </p:sp>
    </p:spTree>
    <p:extLst>
      <p:ext uri="{BB962C8B-B14F-4D97-AF65-F5344CB8AC3E}">
        <p14:creationId xmlns:p14="http://schemas.microsoft.com/office/powerpoint/2010/main" val="13246486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Initially problems with generation where model just got stuck and did not output anything anymore at a certain point.</a:t>
            </a:r>
          </a:p>
          <a:p>
            <a:endParaRPr lang="en-GB" dirty="0"/>
          </a:p>
          <a:p>
            <a:r>
              <a:rPr lang="en-GB" dirty="0"/>
              <a:t>Played around with parameters to stabilize it.</a:t>
            </a:r>
          </a:p>
          <a:p>
            <a:r>
              <a:rPr lang="en-GB" dirty="0"/>
              <a:t>Most important changes:</a:t>
            </a:r>
          </a:p>
          <a:p>
            <a:endParaRPr lang="en-GB" dirty="0"/>
          </a:p>
          <a:p>
            <a:r>
              <a:rPr lang="en-GB" dirty="0"/>
              <a:t>Larger context size for better </a:t>
            </a:r>
          </a:p>
          <a:p>
            <a:r>
              <a:rPr lang="en-GB" dirty="0"/>
              <a:t>Deacreased repeat penalty default 1.1 to 0.7 -&gt; highes impact</a:t>
            </a:r>
          </a:p>
          <a:p>
            <a:r>
              <a:rPr lang="en-GB" dirty="0"/>
              <a:t>top_p 0.8 -&gt; 0.7 to get slightly more conservative answers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1.5b parameter model: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(Ctx should not be the issue model card says 128k)</a:t>
            </a:r>
          </a:p>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12</a:t>
            </a:fld>
            <a:endParaRPr lang="en-AT"/>
          </a:p>
        </p:txBody>
      </p:sp>
    </p:spTree>
    <p:extLst>
      <p:ext uri="{BB962C8B-B14F-4D97-AF65-F5344CB8AC3E}">
        <p14:creationId xmlns:p14="http://schemas.microsoft.com/office/powerpoint/2010/main" val="24413628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13</a:t>
            </a:fld>
            <a:endParaRPr lang="en-AT"/>
          </a:p>
        </p:txBody>
      </p:sp>
    </p:spTree>
    <p:extLst>
      <p:ext uri="{BB962C8B-B14F-4D97-AF65-F5344CB8AC3E}">
        <p14:creationId xmlns:p14="http://schemas.microsoft.com/office/powerpoint/2010/main" val="1656617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1346B-F54B-A471-AA74-9C582819E7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T"/>
          </a:p>
        </p:txBody>
      </p:sp>
      <p:sp>
        <p:nvSpPr>
          <p:cNvPr id="3" name="Subtitle 2">
            <a:extLst>
              <a:ext uri="{FF2B5EF4-FFF2-40B4-BE49-F238E27FC236}">
                <a16:creationId xmlns:a16="http://schemas.microsoft.com/office/drawing/2014/main" id="{D35534C9-DB56-4B35-094F-434183635E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T"/>
          </a:p>
        </p:txBody>
      </p:sp>
      <p:sp>
        <p:nvSpPr>
          <p:cNvPr id="4" name="Date Placeholder 3">
            <a:extLst>
              <a:ext uri="{FF2B5EF4-FFF2-40B4-BE49-F238E27FC236}">
                <a16:creationId xmlns:a16="http://schemas.microsoft.com/office/drawing/2014/main" id="{634AA800-D9E5-DE72-D77C-872A9AA8263B}"/>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a:extLst>
              <a:ext uri="{FF2B5EF4-FFF2-40B4-BE49-F238E27FC236}">
                <a16:creationId xmlns:a16="http://schemas.microsoft.com/office/drawing/2014/main" id="{4DF8603F-6B55-4347-584D-AF1087FBB79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91E5CD65-6AC5-6BC7-3988-39370D8C10D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619262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B8A8F-61D7-4D1A-7AF0-FAE2B0025653}"/>
              </a:ext>
            </a:extLst>
          </p:cNvPr>
          <p:cNvSpPr>
            <a:spLocks noGrp="1"/>
          </p:cNvSpPr>
          <p:nvPr>
            <p:ph type="title"/>
          </p:nvPr>
        </p:nvSpPr>
        <p:spPr/>
        <p:txBody>
          <a:bodyPr/>
          <a:lstStyle/>
          <a:p>
            <a:r>
              <a:rPr lang="en-US"/>
              <a:t>Click to edit Master title style</a:t>
            </a:r>
            <a:endParaRPr lang="en-AT"/>
          </a:p>
        </p:txBody>
      </p:sp>
      <p:sp>
        <p:nvSpPr>
          <p:cNvPr id="3" name="Content Placeholder 2">
            <a:extLst>
              <a:ext uri="{FF2B5EF4-FFF2-40B4-BE49-F238E27FC236}">
                <a16:creationId xmlns:a16="http://schemas.microsoft.com/office/drawing/2014/main" id="{C3173D94-C9BC-E771-D7E1-89E0C180EB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417CE44C-4495-F9FD-B80C-15E16AC3081B}"/>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a:extLst>
              <a:ext uri="{FF2B5EF4-FFF2-40B4-BE49-F238E27FC236}">
                <a16:creationId xmlns:a16="http://schemas.microsoft.com/office/drawing/2014/main" id="{FDB3C8C8-ED36-ACEB-AAF6-6FBC6F87236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47EB18D-CB1A-4EBB-8E26-098B84F9D636}"/>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20982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98E0-70D8-6334-95F7-ED04FE1EC6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T"/>
          </a:p>
        </p:txBody>
      </p:sp>
      <p:sp>
        <p:nvSpPr>
          <p:cNvPr id="3" name="Text Placeholder 2">
            <a:extLst>
              <a:ext uri="{FF2B5EF4-FFF2-40B4-BE49-F238E27FC236}">
                <a16:creationId xmlns:a16="http://schemas.microsoft.com/office/drawing/2014/main" id="{128CE4A4-9505-1254-8D20-DD8E5C3F9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8775F8-C756-6C9A-6DB0-5E02D8E1A29D}"/>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a:extLst>
              <a:ext uri="{FF2B5EF4-FFF2-40B4-BE49-F238E27FC236}">
                <a16:creationId xmlns:a16="http://schemas.microsoft.com/office/drawing/2014/main" id="{D5A52F3A-21D4-F2BA-5348-9F28D9A7F5F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8F71D71-2BD0-2637-A437-D9F37DDF7F2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952788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C8421-E587-F6A5-D616-19F457F3B624}"/>
              </a:ext>
            </a:extLst>
          </p:cNvPr>
          <p:cNvSpPr>
            <a:spLocks noGrp="1"/>
          </p:cNvSpPr>
          <p:nvPr>
            <p:ph type="title"/>
          </p:nvPr>
        </p:nvSpPr>
        <p:spPr/>
        <p:txBody>
          <a:bodyPr/>
          <a:lstStyle/>
          <a:p>
            <a:r>
              <a:rPr lang="en-US"/>
              <a:t>Click to edit Master title style</a:t>
            </a:r>
            <a:endParaRPr lang="en-AT"/>
          </a:p>
        </p:txBody>
      </p:sp>
      <p:sp>
        <p:nvSpPr>
          <p:cNvPr id="3" name="Content Placeholder 2">
            <a:extLst>
              <a:ext uri="{FF2B5EF4-FFF2-40B4-BE49-F238E27FC236}">
                <a16:creationId xmlns:a16="http://schemas.microsoft.com/office/drawing/2014/main" id="{D577831D-9132-6F82-9806-8B7B072625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Content Placeholder 3">
            <a:extLst>
              <a:ext uri="{FF2B5EF4-FFF2-40B4-BE49-F238E27FC236}">
                <a16:creationId xmlns:a16="http://schemas.microsoft.com/office/drawing/2014/main" id="{56C0F5B9-1B08-7BE7-3993-1D7BF82F42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5" name="Date Placeholder 4">
            <a:extLst>
              <a:ext uri="{FF2B5EF4-FFF2-40B4-BE49-F238E27FC236}">
                <a16:creationId xmlns:a16="http://schemas.microsoft.com/office/drawing/2014/main" id="{A5AB1450-D624-068C-AD24-1661710E5D58}"/>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a:extLst>
              <a:ext uri="{FF2B5EF4-FFF2-40B4-BE49-F238E27FC236}">
                <a16:creationId xmlns:a16="http://schemas.microsoft.com/office/drawing/2014/main" id="{41AE237F-EA9D-A8F7-2E1F-FD0A991A3D36}"/>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66412B9E-92E7-15D4-DC4E-F98649F5BAFC}"/>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0291760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059B9-0D8D-46FE-5787-C9AD133C7C41}"/>
              </a:ext>
            </a:extLst>
          </p:cNvPr>
          <p:cNvSpPr>
            <a:spLocks noGrp="1"/>
          </p:cNvSpPr>
          <p:nvPr>
            <p:ph type="title"/>
          </p:nvPr>
        </p:nvSpPr>
        <p:spPr>
          <a:xfrm>
            <a:off x="839788" y="365125"/>
            <a:ext cx="10515600" cy="1325563"/>
          </a:xfrm>
        </p:spPr>
        <p:txBody>
          <a:bodyPr/>
          <a:lstStyle/>
          <a:p>
            <a:r>
              <a:rPr lang="en-US"/>
              <a:t>Click to edit Master title style</a:t>
            </a:r>
            <a:endParaRPr lang="en-AT"/>
          </a:p>
        </p:txBody>
      </p:sp>
      <p:sp>
        <p:nvSpPr>
          <p:cNvPr id="3" name="Text Placeholder 2">
            <a:extLst>
              <a:ext uri="{FF2B5EF4-FFF2-40B4-BE49-F238E27FC236}">
                <a16:creationId xmlns:a16="http://schemas.microsoft.com/office/drawing/2014/main" id="{FB8EE6A5-D9AD-95C2-B292-025E635300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310C76-375D-767B-7DB9-0A53DEC949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5" name="Text Placeholder 4">
            <a:extLst>
              <a:ext uri="{FF2B5EF4-FFF2-40B4-BE49-F238E27FC236}">
                <a16:creationId xmlns:a16="http://schemas.microsoft.com/office/drawing/2014/main" id="{BFA53033-1CC6-B350-B052-7B94CB7A98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AD24DC-897F-7E41-5CDC-824CA4A1C5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7" name="Date Placeholder 6">
            <a:extLst>
              <a:ext uri="{FF2B5EF4-FFF2-40B4-BE49-F238E27FC236}">
                <a16:creationId xmlns:a16="http://schemas.microsoft.com/office/drawing/2014/main" id="{772175A0-98B5-0C62-6A0B-38C120490582}"/>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8" name="Footer Placeholder 7">
            <a:extLst>
              <a:ext uri="{FF2B5EF4-FFF2-40B4-BE49-F238E27FC236}">
                <a16:creationId xmlns:a16="http://schemas.microsoft.com/office/drawing/2014/main" id="{37C12DD1-7CA7-E27C-F22E-BD2F7E78DBE9}"/>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E6D3F317-BAF4-72CC-86E5-955A63511F22}"/>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791902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5A2AD-8711-7BF6-1493-9CA774F573BC}"/>
              </a:ext>
            </a:extLst>
          </p:cNvPr>
          <p:cNvSpPr>
            <a:spLocks noGrp="1"/>
          </p:cNvSpPr>
          <p:nvPr>
            <p:ph type="title"/>
          </p:nvPr>
        </p:nvSpPr>
        <p:spPr/>
        <p:txBody>
          <a:bodyPr/>
          <a:lstStyle/>
          <a:p>
            <a:r>
              <a:rPr lang="en-US"/>
              <a:t>Click to edit Master title style</a:t>
            </a:r>
            <a:endParaRPr lang="en-AT"/>
          </a:p>
        </p:txBody>
      </p:sp>
      <p:sp>
        <p:nvSpPr>
          <p:cNvPr id="3" name="Date Placeholder 2">
            <a:extLst>
              <a:ext uri="{FF2B5EF4-FFF2-40B4-BE49-F238E27FC236}">
                <a16:creationId xmlns:a16="http://schemas.microsoft.com/office/drawing/2014/main" id="{D28CDD1C-7820-6A2F-9D13-2B740E2BC256}"/>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4" name="Footer Placeholder 3">
            <a:extLst>
              <a:ext uri="{FF2B5EF4-FFF2-40B4-BE49-F238E27FC236}">
                <a16:creationId xmlns:a16="http://schemas.microsoft.com/office/drawing/2014/main" id="{F5E4C054-4040-0D07-5923-9230591D1D3F}"/>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5CC100BD-74E4-36AD-AD9E-41492172B9F8}"/>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687420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13EA0B9-0E69-CBDC-9C5E-4E20CEF4F016}"/>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3" name="Footer Placeholder 2">
            <a:extLst>
              <a:ext uri="{FF2B5EF4-FFF2-40B4-BE49-F238E27FC236}">
                <a16:creationId xmlns:a16="http://schemas.microsoft.com/office/drawing/2014/main" id="{A62FA004-F3EB-B399-5C24-43AA19435EBC}"/>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85D36DCC-F78D-F5E8-A7C4-3FFF1F57C5C5}"/>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83322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57C67-3142-9A23-2FDD-BCD24EE433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T"/>
          </a:p>
        </p:txBody>
      </p:sp>
      <p:sp>
        <p:nvSpPr>
          <p:cNvPr id="3" name="Content Placeholder 2">
            <a:extLst>
              <a:ext uri="{FF2B5EF4-FFF2-40B4-BE49-F238E27FC236}">
                <a16:creationId xmlns:a16="http://schemas.microsoft.com/office/drawing/2014/main" id="{7CC92BE1-9170-B0C5-FE95-5E4DD9BB1E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Text Placeholder 3">
            <a:extLst>
              <a:ext uri="{FF2B5EF4-FFF2-40B4-BE49-F238E27FC236}">
                <a16:creationId xmlns:a16="http://schemas.microsoft.com/office/drawing/2014/main" id="{76AE69E4-0490-65A6-0274-95902C7DA4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66861F-E21E-6F42-F601-F4801FB9AE28}"/>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a:extLst>
              <a:ext uri="{FF2B5EF4-FFF2-40B4-BE49-F238E27FC236}">
                <a16:creationId xmlns:a16="http://schemas.microsoft.com/office/drawing/2014/main" id="{D2943916-3B13-EF1F-52F5-AD5BFB7C1036}"/>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652281B-E0D6-BD2B-C244-97B8FDDC4588}"/>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7442559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F20E1-F51B-6F54-006C-822DC7F4FF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T"/>
          </a:p>
        </p:txBody>
      </p:sp>
      <p:sp>
        <p:nvSpPr>
          <p:cNvPr id="3" name="Picture Placeholder 2">
            <a:extLst>
              <a:ext uri="{FF2B5EF4-FFF2-40B4-BE49-F238E27FC236}">
                <a16:creationId xmlns:a16="http://schemas.microsoft.com/office/drawing/2014/main" id="{68514802-3A84-D8CA-86A2-561F354523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9E77F456-7150-CF95-F19E-78A5DB1737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1F0EA7-5254-0358-4BD1-BC0FEEE94E05}"/>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a:extLst>
              <a:ext uri="{FF2B5EF4-FFF2-40B4-BE49-F238E27FC236}">
                <a16:creationId xmlns:a16="http://schemas.microsoft.com/office/drawing/2014/main" id="{195506AF-DE07-9DF6-506A-871AACC13281}"/>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2325FA24-DA6B-4D9E-8596-FA309987AED5}"/>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7495162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9425F-5B20-35BD-B475-6FB125693339}"/>
              </a:ext>
            </a:extLst>
          </p:cNvPr>
          <p:cNvSpPr>
            <a:spLocks noGrp="1"/>
          </p:cNvSpPr>
          <p:nvPr>
            <p:ph type="title"/>
          </p:nvPr>
        </p:nvSpPr>
        <p:spPr/>
        <p:txBody>
          <a:bodyPr/>
          <a:lstStyle/>
          <a:p>
            <a:r>
              <a:rPr lang="en-US"/>
              <a:t>Click to edit Master title style</a:t>
            </a:r>
            <a:endParaRPr lang="en-AT"/>
          </a:p>
        </p:txBody>
      </p:sp>
      <p:sp>
        <p:nvSpPr>
          <p:cNvPr id="3" name="Vertical Text Placeholder 2">
            <a:extLst>
              <a:ext uri="{FF2B5EF4-FFF2-40B4-BE49-F238E27FC236}">
                <a16:creationId xmlns:a16="http://schemas.microsoft.com/office/drawing/2014/main" id="{A98073C5-A854-48E3-29FD-A93F826E65C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0E56ED78-BA0D-770B-3EA6-898BC788C3EA}"/>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a:extLst>
              <a:ext uri="{FF2B5EF4-FFF2-40B4-BE49-F238E27FC236}">
                <a16:creationId xmlns:a16="http://schemas.microsoft.com/office/drawing/2014/main" id="{B383CF04-2B0A-B5E9-A675-D59F537E607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7C3ACF9E-05B3-4E66-04E5-ECED648F7D31}"/>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934887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0B992D-7244-3401-FA25-5F885CE2990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T"/>
          </a:p>
        </p:txBody>
      </p:sp>
      <p:sp>
        <p:nvSpPr>
          <p:cNvPr id="3" name="Vertical Text Placeholder 2">
            <a:extLst>
              <a:ext uri="{FF2B5EF4-FFF2-40B4-BE49-F238E27FC236}">
                <a16:creationId xmlns:a16="http://schemas.microsoft.com/office/drawing/2014/main" id="{684FA69F-0E33-9171-8463-82187779A1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3724AAC9-1190-FE69-E6BF-DD81EFC1E465}"/>
              </a:ext>
            </a:extLst>
          </p:cNvPr>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a:extLst>
              <a:ext uri="{FF2B5EF4-FFF2-40B4-BE49-F238E27FC236}">
                <a16:creationId xmlns:a16="http://schemas.microsoft.com/office/drawing/2014/main" id="{606495EB-8575-F0B5-810B-2D2EA742C7EB}"/>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B14520AF-2C57-2C77-850A-2B6464A16C6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569485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0F90D4-B77E-AA35-12FA-CB58B249ED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T"/>
          </a:p>
        </p:txBody>
      </p:sp>
      <p:sp>
        <p:nvSpPr>
          <p:cNvPr id="3" name="Text Placeholder 2">
            <a:extLst>
              <a:ext uri="{FF2B5EF4-FFF2-40B4-BE49-F238E27FC236}">
                <a16:creationId xmlns:a16="http://schemas.microsoft.com/office/drawing/2014/main" id="{4ED541A4-A6E7-1BFE-C763-EA2E982433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C98E349C-81E9-CF59-11C9-50A386FDD1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0BFEE2-3EAA-4386-9A3C-82D92E479C9F}" type="datetimeFigureOut">
              <a:rPr lang="en-AT" smtClean="0"/>
              <a:t>02/06/2025</a:t>
            </a:fld>
            <a:endParaRPr lang="en-AT"/>
          </a:p>
        </p:txBody>
      </p:sp>
      <p:sp>
        <p:nvSpPr>
          <p:cNvPr id="5" name="Footer Placeholder 4">
            <a:extLst>
              <a:ext uri="{FF2B5EF4-FFF2-40B4-BE49-F238E27FC236}">
                <a16:creationId xmlns:a16="http://schemas.microsoft.com/office/drawing/2014/main" id="{C1E0E3AB-F0F9-5505-DFC8-A17F9F1DD4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DAAD41F-83DB-D578-3B00-9273CC29BD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04703A-CFDD-4AAA-8704-932920003468}" type="slidenum">
              <a:rPr lang="en-AT" smtClean="0"/>
              <a:t>‹#›</a:t>
            </a:fld>
            <a:endParaRPr lang="en-AT"/>
          </a:p>
        </p:txBody>
      </p:sp>
    </p:spTree>
    <p:extLst>
      <p:ext uri="{BB962C8B-B14F-4D97-AF65-F5344CB8AC3E}">
        <p14:creationId xmlns:p14="http://schemas.microsoft.com/office/powerpoint/2010/main" val="29864169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273AE9-0814-0447-863E-3B7A732241C5}"/>
              </a:ext>
            </a:extLst>
          </p:cNvPr>
          <p:cNvSpPr>
            <a:spLocks noGrp="1"/>
          </p:cNvSpPr>
          <p:nvPr>
            <p:ph type="ctrTitle"/>
          </p:nvPr>
        </p:nvSpPr>
        <p:spPr>
          <a:xfrm>
            <a:off x="838199" y="1093788"/>
            <a:ext cx="10506455" cy="2967208"/>
          </a:xfrm>
        </p:spPr>
        <p:txBody>
          <a:bodyPr>
            <a:normAutofit/>
          </a:bodyPr>
          <a:lstStyle/>
          <a:p>
            <a:pPr algn="l"/>
            <a:r>
              <a:rPr lang="en-GB" sz="5000" dirty="0">
                <a:latin typeface="Consolas" panose="020B0609020204030204" pitchFamily="49" charset="0"/>
              </a:rPr>
              <a:t>Feasibility of Using Large Language Models for Requirement-Based Software Testing</a:t>
            </a:r>
            <a:endParaRPr lang="en-AT" sz="5000" dirty="0">
              <a:latin typeface="Consolas" panose="020B0609020204030204" pitchFamily="49" charset="0"/>
            </a:endParaRPr>
          </a:p>
        </p:txBody>
      </p:sp>
      <p:sp>
        <p:nvSpPr>
          <p:cNvPr id="3" name="Subtitle 2">
            <a:extLst>
              <a:ext uri="{FF2B5EF4-FFF2-40B4-BE49-F238E27FC236}">
                <a16:creationId xmlns:a16="http://schemas.microsoft.com/office/drawing/2014/main" id="{FA521879-9308-9335-47EA-0736DC4C185C}"/>
              </a:ext>
            </a:extLst>
          </p:cNvPr>
          <p:cNvSpPr>
            <a:spLocks noGrp="1"/>
          </p:cNvSpPr>
          <p:nvPr>
            <p:ph type="subTitle" idx="1"/>
          </p:nvPr>
        </p:nvSpPr>
        <p:spPr>
          <a:xfrm>
            <a:off x="7400924" y="4619624"/>
            <a:ext cx="3946779" cy="1038225"/>
          </a:xfrm>
        </p:spPr>
        <p:txBody>
          <a:bodyPr>
            <a:normAutofit/>
          </a:bodyPr>
          <a:lstStyle/>
          <a:p>
            <a:pPr algn="r"/>
            <a:r>
              <a:rPr lang="en-GB" dirty="0"/>
              <a:t>Alexander Seyr</a:t>
            </a:r>
          </a:p>
          <a:p>
            <a:pPr algn="r"/>
            <a:endParaRPr lang="en-AT" dirty="0"/>
          </a:p>
        </p:txBody>
      </p:sp>
      <p:sp>
        <p:nvSpPr>
          <p:cNvPr id="41" name="Rectangle 40">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2" name="Rectangle 41">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471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496E1-87AF-7CFC-576B-A6B8AB0AC835}"/>
              </a:ext>
            </a:extLst>
          </p:cNvPr>
          <p:cNvSpPr>
            <a:spLocks noGrp="1"/>
          </p:cNvSpPr>
          <p:nvPr>
            <p:ph type="title"/>
          </p:nvPr>
        </p:nvSpPr>
        <p:spPr/>
        <p:txBody>
          <a:bodyPr/>
          <a:lstStyle/>
          <a:p>
            <a:r>
              <a:rPr lang="en-GB" dirty="0">
                <a:latin typeface="Consolas" panose="020B0609020204030204" pitchFamily="49" charset="0"/>
              </a:rPr>
              <a:t>Software testing overview</a:t>
            </a:r>
          </a:p>
        </p:txBody>
      </p:sp>
      <p:sp>
        <p:nvSpPr>
          <p:cNvPr id="13" name="TextBox 12">
            <a:extLst>
              <a:ext uri="{FF2B5EF4-FFF2-40B4-BE49-F238E27FC236}">
                <a16:creationId xmlns:a16="http://schemas.microsoft.com/office/drawing/2014/main" id="{78CE8F74-228B-5190-E3BA-8AB0137B8EBF}"/>
              </a:ext>
            </a:extLst>
          </p:cNvPr>
          <p:cNvSpPr txBox="1"/>
          <p:nvPr/>
        </p:nvSpPr>
        <p:spPr>
          <a:xfrm>
            <a:off x="1295400" y="6457754"/>
            <a:ext cx="10625255" cy="415498"/>
          </a:xfrm>
          <a:prstGeom prst="rect">
            <a:avLst/>
          </a:prstGeom>
          <a:noFill/>
        </p:spPr>
        <p:txBody>
          <a:bodyPr wrap="square">
            <a:spAutoFit/>
          </a:bodyPr>
          <a:lstStyle/>
          <a:p>
            <a:r>
              <a:rPr lang="en-GB" sz="700" b="0" i="0" u="none" strike="noStrike" dirty="0">
                <a:solidFill>
                  <a:srgbClr val="7D8591"/>
                </a:solidFill>
                <a:effectLst/>
                <a:latin typeface="Arial" panose="020B0604020202020204" pitchFamily="34" charset="0"/>
              </a:rPr>
              <a:t>Wang, Junjie / Huang, Yuchao / Chen, Chunyang / Liu, Zhe / Wang, Song / Wang, Qing, </a:t>
            </a:r>
            <a:r>
              <a:rPr lang="en-GB" sz="700" b="1" i="0" u="none" strike="noStrike" dirty="0">
                <a:solidFill>
                  <a:srgbClr val="7D8591"/>
                </a:solidFill>
                <a:effectLst/>
                <a:latin typeface="Arial" panose="020B0604020202020204" pitchFamily="34" charset="0"/>
              </a:rPr>
              <a:t>Software testing with large language models: Survey, landscape, and vision </a:t>
            </a:r>
            <a:r>
              <a:rPr lang="en-GB" sz="700" b="0" i="0" u="none" strike="noStrike" dirty="0">
                <a:solidFill>
                  <a:srgbClr val="7D8591"/>
                </a:solidFill>
                <a:effectLst/>
                <a:latin typeface="Arial" panose="020B0604020202020204" pitchFamily="34" charset="0"/>
              </a:rPr>
              <a:t>2024 </a:t>
            </a:r>
            <a:r>
              <a:rPr lang="en-GB" sz="700" b="0" i="1" u="none" strike="noStrike" dirty="0">
                <a:solidFill>
                  <a:srgbClr val="7D8591"/>
                </a:solidFill>
                <a:effectLst/>
                <a:latin typeface="Arial" panose="020B0604020202020204" pitchFamily="34" charset="0"/>
              </a:rPr>
              <a:t>IEEE Transactions on Software Engineering</a:t>
            </a:r>
          </a:p>
          <a:p>
            <a:r>
              <a:rPr lang="en-GB" sz="700" b="0" i="0" u="none" strike="noStrike" dirty="0">
                <a:solidFill>
                  <a:srgbClr val="7D8591"/>
                </a:solidFill>
                <a:effectLst/>
                <a:latin typeface="Arial" panose="020B0604020202020204" pitchFamily="34" charset="0"/>
              </a:rPr>
              <a:t>Anwar, Nahid / Kar, Susmita, </a:t>
            </a:r>
            <a:r>
              <a:rPr lang="en-GB" sz="700" b="1" i="0" u="none" strike="noStrike" dirty="0">
                <a:solidFill>
                  <a:srgbClr val="7D8591"/>
                </a:solidFill>
                <a:effectLst/>
                <a:latin typeface="Arial" panose="020B0604020202020204" pitchFamily="34" charset="0"/>
              </a:rPr>
              <a:t>Review paper on various software testing techniques &amp;amp; strategies, </a:t>
            </a:r>
            <a:r>
              <a:rPr lang="en-GB" sz="700" b="0" i="0" u="none" strike="noStrike" dirty="0">
                <a:solidFill>
                  <a:srgbClr val="7D8591"/>
                </a:solidFill>
                <a:effectLst/>
                <a:latin typeface="Arial" panose="020B0604020202020204" pitchFamily="34" charset="0"/>
              </a:rPr>
              <a:t>2019, </a:t>
            </a:r>
            <a:r>
              <a:rPr lang="en-GB" sz="700" b="0" i="1" u="none" strike="noStrike" dirty="0">
                <a:solidFill>
                  <a:srgbClr val="7D8591"/>
                </a:solidFill>
                <a:effectLst/>
                <a:latin typeface="Arial" panose="020B0604020202020204" pitchFamily="34" charset="0"/>
              </a:rPr>
              <a:t>Global Journal of Computer Science and Technology</a:t>
            </a:r>
            <a:r>
              <a:rPr lang="en-GB" sz="700" b="0" i="0" u="none" strike="noStrike" dirty="0">
                <a:solidFill>
                  <a:srgbClr val="7D8591"/>
                </a:solidFill>
                <a:effectLst/>
                <a:latin typeface="Arial" panose="020B0604020202020204" pitchFamily="34" charset="0"/>
              </a:rPr>
              <a:t> , Vol. 19, No. 2 p. 43-49</a:t>
            </a:r>
            <a:endParaRPr lang="en-AT" sz="700" dirty="0"/>
          </a:p>
          <a:p>
            <a:endParaRPr lang="en-AT" sz="700" dirty="0"/>
          </a:p>
        </p:txBody>
      </p:sp>
      <p:sp>
        <p:nvSpPr>
          <p:cNvPr id="14" name="Content Placeholder 2">
            <a:extLst>
              <a:ext uri="{FF2B5EF4-FFF2-40B4-BE49-F238E27FC236}">
                <a16:creationId xmlns:a16="http://schemas.microsoft.com/office/drawing/2014/main" id="{6B242104-2FEC-1869-1808-9D75D42809B6}"/>
              </a:ext>
            </a:extLst>
          </p:cNvPr>
          <p:cNvSpPr txBox="1">
            <a:spLocks/>
          </p:cNvSpPr>
          <p:nvPr/>
        </p:nvSpPr>
        <p:spPr>
          <a:xfrm>
            <a:off x="838200" y="18129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latin typeface="Consolas" panose="020B0609020204030204" pitchFamily="49" charset="0"/>
              </a:rPr>
              <a:t>Quality assurance through testing</a:t>
            </a:r>
          </a:p>
          <a:p>
            <a:pPr lvl="1"/>
            <a:endParaRPr lang="en-GB" sz="2000" dirty="0">
              <a:latin typeface="Consolas" panose="020B0609020204030204" pitchFamily="49" charset="0"/>
            </a:endParaRPr>
          </a:p>
          <a:p>
            <a:r>
              <a:rPr lang="en-GB" sz="2400" dirty="0">
                <a:latin typeface="Consolas" panose="020B0609020204030204" pitchFamily="49" charset="0"/>
              </a:rPr>
              <a:t>Strategies</a:t>
            </a:r>
          </a:p>
          <a:p>
            <a:pPr lvl="1"/>
            <a:r>
              <a:rPr lang="en-GB" sz="2000" dirty="0">
                <a:latin typeface="Consolas" panose="020B0609020204030204" pitchFamily="49" charset="0"/>
              </a:rPr>
              <a:t>Unit testing</a:t>
            </a:r>
            <a:endParaRPr lang="en-GB" sz="1600" dirty="0">
              <a:latin typeface="Consolas" panose="020B0609020204030204" pitchFamily="49" charset="0"/>
            </a:endParaRPr>
          </a:p>
          <a:p>
            <a:pPr lvl="1"/>
            <a:r>
              <a:rPr lang="en-GB" sz="2000" dirty="0">
                <a:latin typeface="Consolas" panose="020B0609020204030204" pitchFamily="49" charset="0"/>
              </a:rPr>
              <a:t>Integration testing</a:t>
            </a:r>
          </a:p>
          <a:p>
            <a:pPr lvl="1"/>
            <a:r>
              <a:rPr lang="en-GB" sz="2000" dirty="0">
                <a:latin typeface="Consolas" panose="020B0609020204030204" pitchFamily="49" charset="0"/>
              </a:rPr>
              <a:t>Acceptance/Validation testing</a:t>
            </a:r>
          </a:p>
          <a:p>
            <a:pPr lvl="1"/>
            <a:r>
              <a:rPr lang="en-GB" sz="2000" dirty="0">
                <a:latin typeface="Consolas" panose="020B0609020204030204" pitchFamily="49" charset="0"/>
              </a:rPr>
              <a:t>System testing</a:t>
            </a:r>
            <a:endParaRPr lang="en-GB" dirty="0">
              <a:latin typeface="Consolas" panose="020B0609020204030204" pitchFamily="49" charset="0"/>
            </a:endParaRPr>
          </a:p>
          <a:p>
            <a:pPr marL="0" indent="0">
              <a:buNone/>
            </a:pPr>
            <a:endParaRPr lang="en-GB" sz="1800" dirty="0">
              <a:latin typeface="Consolas" panose="020B0609020204030204" pitchFamily="49" charset="0"/>
            </a:endParaRPr>
          </a:p>
          <a:p>
            <a:r>
              <a:rPr lang="en-GB" sz="2000" dirty="0">
                <a:latin typeface="Consolas" panose="020B0609020204030204" pitchFamily="49" charset="0"/>
              </a:rPr>
              <a:t>Research on applying LLM’s for </a:t>
            </a:r>
            <a:br>
              <a:rPr lang="en-GB" sz="2000" dirty="0">
                <a:latin typeface="Consolas" panose="020B0609020204030204" pitchFamily="49" charset="0"/>
              </a:rPr>
            </a:br>
            <a:r>
              <a:rPr lang="en-GB" sz="2000" dirty="0">
                <a:latin typeface="Consolas" panose="020B0609020204030204" pitchFamily="49" charset="0"/>
              </a:rPr>
              <a:t>different testing strategies:</a:t>
            </a:r>
          </a:p>
          <a:p>
            <a:pPr lvl="1"/>
            <a:endParaRPr lang="en-GB" sz="1400" dirty="0">
              <a:latin typeface="Consolas" panose="020B0609020204030204" pitchFamily="49" charset="0"/>
            </a:endParaRPr>
          </a:p>
          <a:p>
            <a:endParaRPr lang="en-AT" sz="1600" dirty="0">
              <a:latin typeface="Consolas" panose="020B0609020204030204" pitchFamily="49" charset="0"/>
            </a:endParaRPr>
          </a:p>
        </p:txBody>
      </p:sp>
      <p:pic>
        <p:nvPicPr>
          <p:cNvPr id="7" name="Picture 6">
            <a:extLst>
              <a:ext uri="{FF2B5EF4-FFF2-40B4-BE49-F238E27FC236}">
                <a16:creationId xmlns:a16="http://schemas.microsoft.com/office/drawing/2014/main" id="{8F93D3F5-F7D5-1320-E7E5-70F89E3F743B}"/>
              </a:ext>
            </a:extLst>
          </p:cNvPr>
          <p:cNvPicPr>
            <a:picLocks noChangeAspect="1"/>
          </p:cNvPicPr>
          <p:nvPr/>
        </p:nvPicPr>
        <p:blipFill>
          <a:blip r:embed="rId3"/>
          <a:stretch>
            <a:fillRect/>
          </a:stretch>
        </p:blipFill>
        <p:spPr>
          <a:xfrm>
            <a:off x="6608027" y="3340241"/>
            <a:ext cx="5421955" cy="3152634"/>
          </a:xfrm>
          <a:prstGeom prst="rect">
            <a:avLst/>
          </a:prstGeom>
        </p:spPr>
      </p:pic>
    </p:spTree>
    <p:extLst>
      <p:ext uri="{BB962C8B-B14F-4D97-AF65-F5344CB8AC3E}">
        <p14:creationId xmlns:p14="http://schemas.microsoft.com/office/powerpoint/2010/main" val="142687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F2D71-438D-DFA0-9F13-C5FC5247325D}"/>
              </a:ext>
            </a:extLst>
          </p:cNvPr>
          <p:cNvSpPr>
            <a:spLocks noGrp="1"/>
          </p:cNvSpPr>
          <p:nvPr>
            <p:ph type="title"/>
          </p:nvPr>
        </p:nvSpPr>
        <p:spPr>
          <a:xfrm>
            <a:off x="800724" y="402601"/>
            <a:ext cx="10515600" cy="1325563"/>
          </a:xfrm>
        </p:spPr>
        <p:txBody>
          <a:bodyPr/>
          <a:lstStyle/>
          <a:p>
            <a:r>
              <a:rPr lang="en-GB" dirty="0">
                <a:latin typeface="Consolas" panose="020B0609020204030204" pitchFamily="49" charset="0"/>
              </a:rPr>
              <a:t>Focus of this study – Acceptance Testing</a:t>
            </a:r>
            <a:endParaRPr lang="en-AT" dirty="0">
              <a:latin typeface="Consolas" panose="020B0609020204030204" pitchFamily="49" charset="0"/>
            </a:endParaRPr>
          </a:p>
        </p:txBody>
      </p:sp>
      <p:sp>
        <p:nvSpPr>
          <p:cNvPr id="4" name="Content Placeholder 2">
            <a:extLst>
              <a:ext uri="{FF2B5EF4-FFF2-40B4-BE49-F238E27FC236}">
                <a16:creationId xmlns:a16="http://schemas.microsoft.com/office/drawing/2014/main" id="{883C6131-AD2C-2511-3E29-8773C5DB885F}"/>
              </a:ext>
            </a:extLst>
          </p:cNvPr>
          <p:cNvSpPr txBox="1">
            <a:spLocks/>
          </p:cNvSpPr>
          <p:nvPr/>
        </p:nvSpPr>
        <p:spPr>
          <a:xfrm>
            <a:off x="756274" y="199645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GB" dirty="0">
              <a:latin typeface="Consolas" panose="020B0609020204030204" pitchFamily="49" charset="0"/>
            </a:endParaRPr>
          </a:p>
        </p:txBody>
      </p:sp>
      <p:sp>
        <p:nvSpPr>
          <p:cNvPr id="5" name="Content Placeholder 2">
            <a:extLst>
              <a:ext uri="{FF2B5EF4-FFF2-40B4-BE49-F238E27FC236}">
                <a16:creationId xmlns:a16="http://schemas.microsoft.com/office/drawing/2014/main" id="{792CF4CB-6E66-0719-4475-DDBC347B8036}"/>
              </a:ext>
            </a:extLst>
          </p:cNvPr>
          <p:cNvSpPr txBox="1">
            <a:spLocks/>
          </p:cNvSpPr>
          <p:nvPr/>
        </p:nvSpPr>
        <p:spPr>
          <a:xfrm>
            <a:off x="756274" y="188884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latin typeface="Consolas" panose="020B0609020204030204" pitchFamily="49" charset="0"/>
              </a:rPr>
              <a:t>Are requirements fullfilled?</a:t>
            </a:r>
          </a:p>
          <a:p>
            <a:endParaRPr lang="en-GB" sz="2400" dirty="0">
              <a:latin typeface="Consolas" panose="020B0609020204030204" pitchFamily="49" charset="0"/>
            </a:endParaRPr>
          </a:p>
          <a:p>
            <a:r>
              <a:rPr lang="en-GB" sz="2400" dirty="0">
                <a:latin typeface="Consolas" panose="020B0609020204030204" pitchFamily="49" charset="0"/>
              </a:rPr>
              <a:t>How capable are LLM’s in:</a:t>
            </a:r>
          </a:p>
          <a:p>
            <a:pPr lvl="1"/>
            <a:endParaRPr lang="en-GB" sz="2000" dirty="0">
              <a:latin typeface="Consolas" panose="020B0609020204030204" pitchFamily="49" charset="0"/>
            </a:endParaRPr>
          </a:p>
          <a:p>
            <a:pPr lvl="1"/>
            <a:r>
              <a:rPr lang="en-GB" sz="2000" dirty="0">
                <a:latin typeface="Consolas" panose="020B0609020204030204" pitchFamily="49" charset="0"/>
              </a:rPr>
              <a:t>Understanding requirements in technical domain?</a:t>
            </a:r>
          </a:p>
          <a:p>
            <a:pPr lvl="1"/>
            <a:endParaRPr lang="en-GB" sz="2000" dirty="0">
              <a:latin typeface="Consolas" panose="020B0609020204030204" pitchFamily="49" charset="0"/>
            </a:endParaRPr>
          </a:p>
          <a:p>
            <a:pPr lvl="1"/>
            <a:r>
              <a:rPr lang="en-GB" sz="2000" dirty="0">
                <a:latin typeface="Consolas" panose="020B0609020204030204" pitchFamily="49" charset="0"/>
              </a:rPr>
              <a:t>Deriving test descriptions from requirements?</a:t>
            </a:r>
          </a:p>
          <a:p>
            <a:endParaRPr lang="en-GB" dirty="0">
              <a:latin typeface="Consolas" panose="020B0609020204030204" pitchFamily="49" charset="0"/>
            </a:endParaRPr>
          </a:p>
        </p:txBody>
      </p:sp>
      <p:pic>
        <p:nvPicPr>
          <p:cNvPr id="12" name="Picture 11" descr="A diagram of a software process&#10;&#10;AI-generated content may be incorrect.">
            <a:extLst>
              <a:ext uri="{FF2B5EF4-FFF2-40B4-BE49-F238E27FC236}">
                <a16:creationId xmlns:a16="http://schemas.microsoft.com/office/drawing/2014/main" id="{8668134D-364E-A501-4C35-C07E89BAF2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02072" y="1333834"/>
            <a:ext cx="3173584" cy="5121565"/>
          </a:xfrm>
          <a:prstGeom prst="rect">
            <a:avLst/>
          </a:prstGeom>
        </p:spPr>
      </p:pic>
    </p:spTree>
    <p:extLst>
      <p:ext uri="{BB962C8B-B14F-4D97-AF65-F5344CB8AC3E}">
        <p14:creationId xmlns:p14="http://schemas.microsoft.com/office/powerpoint/2010/main" val="882905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D8DF0-C0BD-E427-7A98-F6B01EF2EC9C}"/>
              </a:ext>
            </a:extLst>
          </p:cNvPr>
          <p:cNvSpPr>
            <a:spLocks noGrp="1"/>
          </p:cNvSpPr>
          <p:nvPr>
            <p:ph type="title"/>
          </p:nvPr>
        </p:nvSpPr>
        <p:spPr/>
        <p:txBody>
          <a:bodyPr/>
          <a:lstStyle/>
          <a:p>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B84A5450-8775-0042-54CF-CB44039CF4E2}"/>
              </a:ext>
            </a:extLst>
          </p:cNvPr>
          <p:cNvSpPr>
            <a:spLocks noGrp="1"/>
          </p:cNvSpPr>
          <p:nvPr>
            <p:ph idx="1"/>
          </p:nvPr>
        </p:nvSpPr>
        <p:spPr>
          <a:xfrm>
            <a:off x="838200" y="1690688"/>
            <a:ext cx="10515600" cy="4351338"/>
          </a:xfrm>
        </p:spPr>
        <p:txBody>
          <a:bodyPr/>
          <a:lstStyle/>
          <a:p>
            <a:r>
              <a:rPr lang="en-GB" sz="2400" dirty="0">
                <a:latin typeface="Consolas" panose="020B0609020204030204" pitchFamily="49" charset="0"/>
              </a:rPr>
              <a:t>Evaluation Procedure</a:t>
            </a:r>
          </a:p>
          <a:p>
            <a:pPr lvl="1"/>
            <a:r>
              <a:rPr lang="en-GB" sz="2000" dirty="0">
                <a:latin typeface="Consolas" panose="020B0609020204030204" pitchFamily="49" charset="0"/>
              </a:rPr>
              <a:t>Use prompt engineering techniques to generate testcases</a:t>
            </a:r>
          </a:p>
          <a:p>
            <a:pPr lvl="1"/>
            <a:r>
              <a:rPr lang="en-GB" sz="2000" dirty="0">
                <a:latin typeface="Consolas" panose="020B0609020204030204" pitchFamily="49" charset="0"/>
              </a:rPr>
              <a:t>Basic Test Description structure shall be enforced</a:t>
            </a: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1"/>
            <a:r>
              <a:rPr lang="en-GB" sz="2000" dirty="0">
                <a:latin typeface="Consolas" panose="020B0609020204030204" pitchFamily="49" charset="0"/>
              </a:rPr>
              <a:t>Validation framework </a:t>
            </a:r>
            <a:r>
              <a:rPr lang="en-GB" sz="2000">
                <a:latin typeface="Consolas" panose="020B0609020204030204" pitchFamily="49" charset="0"/>
              </a:rPr>
              <a:t>for quality </a:t>
            </a:r>
            <a:r>
              <a:rPr lang="en-GB" sz="2000" dirty="0">
                <a:latin typeface="Consolas" panose="020B0609020204030204" pitchFamily="49" charset="0"/>
              </a:rPr>
              <a:t>estimate of Model + prompt variations</a:t>
            </a:r>
          </a:p>
          <a:p>
            <a:pPr lvl="2"/>
            <a:r>
              <a:rPr lang="en-GB" sz="1800" dirty="0">
                <a:latin typeface="Consolas" panose="020B0609020204030204" pitchFamily="49" charset="0"/>
              </a:rPr>
              <a:t>Simple structural checks</a:t>
            </a:r>
          </a:p>
          <a:p>
            <a:pPr lvl="2"/>
            <a:r>
              <a:rPr lang="en-GB" sz="1800" dirty="0">
                <a:latin typeface="Consolas" panose="020B0609020204030204" pitchFamily="49" charset="0"/>
              </a:rPr>
              <a:t>SpaCy for field characterization</a:t>
            </a:r>
          </a:p>
          <a:p>
            <a:pPr lvl="1"/>
            <a:r>
              <a:rPr lang="en-GB" sz="2000" dirty="0">
                <a:latin typeface="Consolas" panose="020B0609020204030204" pitchFamily="49" charset="0"/>
              </a:rPr>
              <a:t>Human verification as final evaluation</a:t>
            </a:r>
          </a:p>
          <a:p>
            <a:pPr lvl="1"/>
            <a:endParaRPr lang="en-GB" dirty="0">
              <a:latin typeface="Consolas" panose="020B0609020204030204" pitchFamily="49" charset="0"/>
            </a:endParaRPr>
          </a:p>
        </p:txBody>
      </p:sp>
      <p:pic>
        <p:nvPicPr>
          <p:cNvPr id="5" name="Picture 4">
            <a:extLst>
              <a:ext uri="{FF2B5EF4-FFF2-40B4-BE49-F238E27FC236}">
                <a16:creationId xmlns:a16="http://schemas.microsoft.com/office/drawing/2014/main" id="{3E48E7C1-7749-EDCC-8F01-AEDE69A6F890}"/>
              </a:ext>
            </a:extLst>
          </p:cNvPr>
          <p:cNvPicPr>
            <a:picLocks noChangeAspect="1"/>
          </p:cNvPicPr>
          <p:nvPr/>
        </p:nvPicPr>
        <p:blipFill>
          <a:blip r:embed="rId3"/>
          <a:stretch>
            <a:fillRect/>
          </a:stretch>
        </p:blipFill>
        <p:spPr>
          <a:xfrm>
            <a:off x="3400586" y="2790825"/>
            <a:ext cx="2415107" cy="1434615"/>
          </a:xfrm>
          <a:prstGeom prst="rect">
            <a:avLst/>
          </a:prstGeom>
        </p:spPr>
      </p:pic>
    </p:spTree>
    <p:extLst>
      <p:ext uri="{BB962C8B-B14F-4D97-AF65-F5344CB8AC3E}">
        <p14:creationId xmlns:p14="http://schemas.microsoft.com/office/powerpoint/2010/main" val="25224914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F5826-B656-D6BD-8186-42E8FB31D677}"/>
              </a:ext>
            </a:extLst>
          </p:cNvPr>
          <p:cNvSpPr>
            <a:spLocks noGrp="1"/>
          </p:cNvSpPr>
          <p:nvPr>
            <p:ph type="title"/>
          </p:nvPr>
        </p:nvSpPr>
        <p:spPr/>
        <p:txBody>
          <a:bodyPr/>
          <a:lstStyle/>
          <a:p>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9BBF55A9-6E35-8D97-F429-C4C602BAD3A1}"/>
              </a:ext>
            </a:extLst>
          </p:cNvPr>
          <p:cNvSpPr>
            <a:spLocks noGrp="1"/>
          </p:cNvSpPr>
          <p:nvPr>
            <p:ph idx="1"/>
          </p:nvPr>
        </p:nvSpPr>
        <p:spPr/>
        <p:txBody>
          <a:bodyPr/>
          <a:lstStyle/>
          <a:p>
            <a:r>
              <a:rPr lang="en-GB" sz="2400" dirty="0">
                <a:latin typeface="Consolas" panose="020B0609020204030204" pitchFamily="49" charset="0"/>
              </a:rPr>
              <a:t>Evaluation on Dronology</a:t>
            </a:r>
          </a:p>
          <a:p>
            <a:pPr marL="457200" lvl="1" indent="0">
              <a:buNone/>
            </a:pPr>
            <a:r>
              <a:rPr lang="en-GB" dirty="0">
                <a:latin typeface="Consolas" panose="020B0609020204030204" pitchFamily="49" charset="0"/>
              </a:rPr>
              <a:t>Unmanned Aerial Systems </a:t>
            </a:r>
            <a:br>
              <a:rPr lang="en-GB" dirty="0">
                <a:latin typeface="Consolas" panose="020B0609020204030204" pitchFamily="49" charset="0"/>
              </a:rPr>
            </a:br>
            <a:r>
              <a:rPr lang="en-GB" dirty="0">
                <a:latin typeface="Consolas" panose="020B0609020204030204" pitchFamily="49" charset="0"/>
              </a:rPr>
              <a:t>Management and Control</a:t>
            </a:r>
          </a:p>
          <a:p>
            <a:pPr marL="457200" lvl="1" indent="0">
              <a:buNone/>
            </a:pPr>
            <a:endParaRPr lang="en-GB" dirty="0">
              <a:latin typeface="Consolas" panose="020B0609020204030204" pitchFamily="49" charset="0"/>
            </a:endParaRPr>
          </a:p>
          <a:p>
            <a:pPr lvl="1"/>
            <a:r>
              <a:rPr lang="en-GB" sz="2000" dirty="0">
                <a:latin typeface="Consolas" panose="020B0609020204030204" pitchFamily="49" charset="0"/>
              </a:rPr>
              <a:t>research environment </a:t>
            </a:r>
          </a:p>
          <a:p>
            <a:pPr lvl="1"/>
            <a:endParaRPr lang="en-GB" sz="2000" dirty="0">
              <a:latin typeface="Consolas" panose="020B0609020204030204" pitchFamily="49" charset="0"/>
            </a:endParaRPr>
          </a:p>
          <a:p>
            <a:pPr lvl="1"/>
            <a:r>
              <a:rPr lang="en-GB" sz="2000" dirty="0">
                <a:latin typeface="Consolas" panose="020B0609020204030204" pitchFamily="49" charset="0"/>
              </a:rPr>
              <a:t>framework for controlling </a:t>
            </a:r>
            <a:br>
              <a:rPr lang="en-GB" sz="2000" dirty="0">
                <a:latin typeface="Consolas" panose="020B0609020204030204" pitchFamily="49" charset="0"/>
              </a:rPr>
            </a:br>
            <a:r>
              <a:rPr lang="en-GB" sz="2000" dirty="0">
                <a:latin typeface="Consolas" panose="020B0609020204030204" pitchFamily="49" charset="0"/>
              </a:rPr>
              <a:t>and coordinating the flight</a:t>
            </a:r>
          </a:p>
          <a:p>
            <a:pPr lvl="1"/>
            <a:endParaRPr lang="en-GB" sz="2000" dirty="0">
              <a:latin typeface="Consolas" panose="020B0609020204030204" pitchFamily="49" charset="0"/>
            </a:endParaRPr>
          </a:p>
          <a:p>
            <a:pPr lvl="1"/>
            <a:r>
              <a:rPr lang="en-AT" sz="2000" dirty="0">
                <a:latin typeface="Consolas" panose="020B0609020204030204" pitchFamily="49" charset="0"/>
              </a:rPr>
              <a:t>https://dronology.info/</a:t>
            </a:r>
          </a:p>
          <a:p>
            <a:pPr lvl="1"/>
            <a:endParaRPr lang="en-GB" sz="2000" dirty="0">
              <a:latin typeface="Consolas" panose="020B0609020204030204" pitchFamily="49" charset="0"/>
            </a:endParaRPr>
          </a:p>
        </p:txBody>
      </p:sp>
      <p:pic>
        <p:nvPicPr>
          <p:cNvPr id="5" name="Picture 4" descr="A person using a computer and a drone&#10;&#10;AI-generated content may be incorrect.">
            <a:extLst>
              <a:ext uri="{FF2B5EF4-FFF2-40B4-BE49-F238E27FC236}">
                <a16:creationId xmlns:a16="http://schemas.microsoft.com/office/drawing/2014/main" id="{80912622-564C-C3AB-88C4-7DEF830BEC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6367" y="199514"/>
            <a:ext cx="2470468" cy="1645371"/>
          </a:xfrm>
          <a:prstGeom prst="rect">
            <a:avLst/>
          </a:prstGeom>
        </p:spPr>
      </p:pic>
      <p:pic>
        <p:nvPicPr>
          <p:cNvPr id="7" name="Picture 6" descr="A diagram of a system&#10;&#10;AI-generated content may be incorrect.">
            <a:extLst>
              <a:ext uri="{FF2B5EF4-FFF2-40B4-BE49-F238E27FC236}">
                <a16:creationId xmlns:a16="http://schemas.microsoft.com/office/drawing/2014/main" id="{7ADA1AF0-4FF3-84AC-B02E-76B7C8010B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91331" y="2260899"/>
            <a:ext cx="6445770" cy="4271071"/>
          </a:xfrm>
          <a:prstGeom prst="rect">
            <a:avLst/>
          </a:prstGeom>
        </p:spPr>
      </p:pic>
    </p:spTree>
    <p:extLst>
      <p:ext uri="{BB962C8B-B14F-4D97-AF65-F5344CB8AC3E}">
        <p14:creationId xmlns:p14="http://schemas.microsoft.com/office/powerpoint/2010/main" val="3581915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DA438F-5413-F9F1-89D8-9609E2FC78E3}"/>
              </a:ext>
            </a:extLst>
          </p:cNvPr>
          <p:cNvSpPr>
            <a:spLocks noGrp="1"/>
          </p:cNvSpPr>
          <p:nvPr>
            <p:ph idx="1"/>
          </p:nvPr>
        </p:nvSpPr>
        <p:spPr>
          <a:xfrm>
            <a:off x="838200" y="1458978"/>
            <a:ext cx="10515600" cy="4351338"/>
          </a:xfrm>
        </p:spPr>
        <p:txBody>
          <a:bodyPr/>
          <a:lstStyle/>
          <a:p>
            <a:r>
              <a:rPr lang="en-GB" dirty="0"/>
              <a:t>97 Requirements</a:t>
            </a:r>
            <a:endParaRPr lang="en-AT" dirty="0"/>
          </a:p>
        </p:txBody>
      </p:sp>
      <p:pic>
        <p:nvPicPr>
          <p:cNvPr id="5" name="Picture 4">
            <a:extLst>
              <a:ext uri="{FF2B5EF4-FFF2-40B4-BE49-F238E27FC236}">
                <a16:creationId xmlns:a16="http://schemas.microsoft.com/office/drawing/2014/main" id="{B8E5F2F9-9753-FF9C-7EBE-D14CABCFCF02}"/>
              </a:ext>
            </a:extLst>
          </p:cNvPr>
          <p:cNvPicPr>
            <a:picLocks noChangeAspect="1"/>
          </p:cNvPicPr>
          <p:nvPr/>
        </p:nvPicPr>
        <p:blipFill>
          <a:blip r:embed="rId3"/>
          <a:stretch>
            <a:fillRect/>
          </a:stretch>
        </p:blipFill>
        <p:spPr>
          <a:xfrm>
            <a:off x="920178" y="2107568"/>
            <a:ext cx="9906000" cy="1085850"/>
          </a:xfrm>
          <a:prstGeom prst="rect">
            <a:avLst/>
          </a:prstGeom>
        </p:spPr>
      </p:pic>
      <p:pic>
        <p:nvPicPr>
          <p:cNvPr id="7" name="Picture 6">
            <a:extLst>
              <a:ext uri="{FF2B5EF4-FFF2-40B4-BE49-F238E27FC236}">
                <a16:creationId xmlns:a16="http://schemas.microsoft.com/office/drawing/2014/main" id="{D837A745-121B-4935-E946-8711B1904B06}"/>
              </a:ext>
            </a:extLst>
          </p:cNvPr>
          <p:cNvPicPr>
            <a:picLocks noChangeAspect="1"/>
          </p:cNvPicPr>
          <p:nvPr/>
        </p:nvPicPr>
        <p:blipFill>
          <a:blip r:embed="rId4"/>
          <a:stretch>
            <a:fillRect/>
          </a:stretch>
        </p:blipFill>
        <p:spPr>
          <a:xfrm>
            <a:off x="920178" y="4569457"/>
            <a:ext cx="9886950" cy="923925"/>
          </a:xfrm>
          <a:prstGeom prst="rect">
            <a:avLst/>
          </a:prstGeom>
        </p:spPr>
      </p:pic>
      <p:pic>
        <p:nvPicPr>
          <p:cNvPr id="9" name="Picture 8">
            <a:extLst>
              <a:ext uri="{FF2B5EF4-FFF2-40B4-BE49-F238E27FC236}">
                <a16:creationId xmlns:a16="http://schemas.microsoft.com/office/drawing/2014/main" id="{B0002559-88D5-E759-23AB-5D3BA4E8B464}"/>
              </a:ext>
            </a:extLst>
          </p:cNvPr>
          <p:cNvPicPr>
            <a:picLocks noChangeAspect="1"/>
          </p:cNvPicPr>
          <p:nvPr/>
        </p:nvPicPr>
        <p:blipFill>
          <a:blip r:embed="rId5"/>
          <a:stretch>
            <a:fillRect/>
          </a:stretch>
        </p:blipFill>
        <p:spPr>
          <a:xfrm>
            <a:off x="920178" y="3429000"/>
            <a:ext cx="9886950" cy="904875"/>
          </a:xfrm>
          <a:prstGeom prst="rect">
            <a:avLst/>
          </a:prstGeom>
        </p:spPr>
      </p:pic>
    </p:spTree>
    <p:extLst>
      <p:ext uri="{BB962C8B-B14F-4D97-AF65-F5344CB8AC3E}">
        <p14:creationId xmlns:p14="http://schemas.microsoft.com/office/powerpoint/2010/main" val="13753229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CB6FD-3E1F-2106-AB44-D5433E1BD859}"/>
              </a:ext>
            </a:extLst>
          </p:cNvPr>
          <p:cNvSpPr>
            <a:spLocks noGrp="1"/>
          </p:cNvSpPr>
          <p:nvPr>
            <p:ph type="title"/>
          </p:nvPr>
        </p:nvSpPr>
        <p:spPr/>
        <p:txBody>
          <a:bodyPr>
            <a:normAutofit/>
          </a:bodyPr>
          <a:lstStyle/>
          <a:p>
            <a:r>
              <a:rPr lang="en-GB" dirty="0"/>
              <a:t>Prompt Engineering techniques</a:t>
            </a:r>
            <a:endParaRPr lang="en-AT" dirty="0"/>
          </a:p>
        </p:txBody>
      </p:sp>
      <p:sp>
        <p:nvSpPr>
          <p:cNvPr id="3" name="Content Placeholder 2">
            <a:extLst>
              <a:ext uri="{FF2B5EF4-FFF2-40B4-BE49-F238E27FC236}">
                <a16:creationId xmlns:a16="http://schemas.microsoft.com/office/drawing/2014/main" id="{55D9D6CC-D1AB-939C-3B8A-914D47CCE9A0}"/>
              </a:ext>
            </a:extLst>
          </p:cNvPr>
          <p:cNvSpPr>
            <a:spLocks noGrp="1"/>
          </p:cNvSpPr>
          <p:nvPr>
            <p:ph idx="1"/>
          </p:nvPr>
        </p:nvSpPr>
        <p:spPr>
          <a:xfrm>
            <a:off x="838200" y="1803867"/>
            <a:ext cx="10053918" cy="3513138"/>
          </a:xfrm>
        </p:spPr>
        <p:txBody>
          <a:bodyPr>
            <a:normAutofit/>
          </a:bodyPr>
          <a:lstStyle/>
          <a:p>
            <a:pPr marL="0" indent="0">
              <a:buNone/>
            </a:pPr>
            <a:endParaRPr lang="en-GB" sz="2400" dirty="0">
              <a:latin typeface="Consolas" panose="020B0609020204030204" pitchFamily="49" charset="0"/>
            </a:endParaRPr>
          </a:p>
          <a:p>
            <a:pPr marL="457200" indent="-457200">
              <a:buFont typeface="+mj-lt"/>
              <a:buAutoNum type="arabicPeriod"/>
            </a:pPr>
            <a:r>
              <a:rPr lang="en-GB" sz="2400" dirty="0">
                <a:latin typeface="Consolas" panose="020B0609020204030204" pitchFamily="49" charset="0"/>
              </a:rPr>
              <a:t>Zero shot learning </a:t>
            </a:r>
            <a:br>
              <a:rPr lang="en-GB" sz="2400" dirty="0">
                <a:latin typeface="Consolas" panose="020B0609020204030204" pitchFamily="49" charset="0"/>
              </a:rPr>
            </a:br>
            <a:r>
              <a:rPr lang="en-GB" sz="2000" dirty="0">
                <a:latin typeface="Consolas" panose="020B0609020204030204" pitchFamily="49" charset="0"/>
              </a:rPr>
              <a:t>+ Directional stimulus 	</a:t>
            </a:r>
          </a:p>
          <a:p>
            <a:pPr marL="457200" indent="-457200">
              <a:buFont typeface="+mj-lt"/>
              <a:buAutoNum type="arabicPeriod"/>
            </a:pPr>
            <a:r>
              <a:rPr lang="en-GB" sz="2400" dirty="0">
                <a:latin typeface="Consolas" panose="020B0609020204030204" pitchFamily="49" charset="0"/>
              </a:rPr>
              <a:t>Personas – software tester</a:t>
            </a:r>
          </a:p>
          <a:p>
            <a:pPr marL="457200" indent="-457200">
              <a:buFont typeface="+mj-lt"/>
              <a:buAutoNum type="arabicPeriod"/>
            </a:pPr>
            <a:r>
              <a:rPr lang="en-GB" sz="2400" dirty="0">
                <a:latin typeface="Consolas" panose="020B0609020204030204" pitchFamily="49" charset="0"/>
              </a:rPr>
              <a:t>Tree of thought – multiple experts</a:t>
            </a:r>
          </a:p>
          <a:p>
            <a:pPr marL="457200" indent="-457200">
              <a:buFont typeface="+mj-lt"/>
              <a:buAutoNum type="arabicPeriod"/>
            </a:pPr>
            <a:r>
              <a:rPr lang="en-GB" sz="2400" dirty="0">
                <a:latin typeface="Consolas" panose="020B0609020204030204" pitchFamily="49" charset="0"/>
              </a:rPr>
              <a:t>Providing Context</a:t>
            </a:r>
          </a:p>
          <a:p>
            <a:pPr lvl="1"/>
            <a:r>
              <a:rPr lang="en-GB" sz="2000" dirty="0">
                <a:latin typeface="Consolas" panose="020B0609020204030204" pitchFamily="49" charset="0"/>
              </a:rPr>
              <a:t>Dronology introduction</a:t>
            </a:r>
          </a:p>
          <a:p>
            <a:pPr lvl="1"/>
            <a:r>
              <a:rPr lang="en-GB" sz="2000" dirty="0">
                <a:latin typeface="Consolas" panose="020B0609020204030204" pitchFamily="49" charset="0"/>
              </a:rPr>
              <a:t>Preparsing of requirements + TOT</a:t>
            </a:r>
          </a:p>
        </p:txBody>
      </p:sp>
      <p:sp>
        <p:nvSpPr>
          <p:cNvPr id="6" name="Content Placeholder 2">
            <a:extLst>
              <a:ext uri="{FF2B5EF4-FFF2-40B4-BE49-F238E27FC236}">
                <a16:creationId xmlns:a16="http://schemas.microsoft.com/office/drawing/2014/main" id="{0501C84C-A285-C805-1E9C-EBD00CE4D1CC}"/>
              </a:ext>
            </a:extLst>
          </p:cNvPr>
          <p:cNvSpPr txBox="1">
            <a:spLocks/>
          </p:cNvSpPr>
          <p:nvPr/>
        </p:nvSpPr>
        <p:spPr>
          <a:xfrm>
            <a:off x="5979459" y="1825625"/>
            <a:ext cx="472888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AT" sz="2000" dirty="0">
              <a:latin typeface="Consolas" panose="020B0609020204030204" pitchFamily="49" charset="0"/>
            </a:endParaRPr>
          </a:p>
        </p:txBody>
      </p:sp>
      <p:sp>
        <p:nvSpPr>
          <p:cNvPr id="8" name="Content Placeholder 2">
            <a:extLst>
              <a:ext uri="{FF2B5EF4-FFF2-40B4-BE49-F238E27FC236}">
                <a16:creationId xmlns:a16="http://schemas.microsoft.com/office/drawing/2014/main" id="{5DF99C2E-C6EE-7D90-DA67-84830D34BB28}"/>
              </a:ext>
            </a:extLst>
          </p:cNvPr>
          <p:cNvSpPr txBox="1">
            <a:spLocks/>
          </p:cNvSpPr>
          <p:nvPr/>
        </p:nvSpPr>
        <p:spPr>
          <a:xfrm>
            <a:off x="6096000" y="1825625"/>
            <a:ext cx="472888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2000" dirty="0">
              <a:latin typeface="Consolas" panose="020B0609020204030204" pitchFamily="49" charset="0"/>
            </a:endParaRPr>
          </a:p>
          <a:p>
            <a:endParaRPr lang="en-GB" sz="2000" dirty="0">
              <a:latin typeface="Consolas" panose="020B0609020204030204" pitchFamily="49" charset="0"/>
            </a:endParaRPr>
          </a:p>
        </p:txBody>
      </p:sp>
      <p:sp>
        <p:nvSpPr>
          <p:cNvPr id="9" name="Right Brace 8">
            <a:extLst>
              <a:ext uri="{FF2B5EF4-FFF2-40B4-BE49-F238E27FC236}">
                <a16:creationId xmlns:a16="http://schemas.microsoft.com/office/drawing/2014/main" id="{9A61D3C4-EE0C-5FB4-28D7-90C003E4C103}"/>
              </a:ext>
            </a:extLst>
          </p:cNvPr>
          <p:cNvSpPr/>
          <p:nvPr/>
        </p:nvSpPr>
        <p:spPr>
          <a:xfrm>
            <a:off x="4513730" y="2356784"/>
            <a:ext cx="277906" cy="569259"/>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AT" dirty="0"/>
          </a:p>
        </p:txBody>
      </p:sp>
      <p:sp>
        <p:nvSpPr>
          <p:cNvPr id="10" name="TextBox 9">
            <a:extLst>
              <a:ext uri="{FF2B5EF4-FFF2-40B4-BE49-F238E27FC236}">
                <a16:creationId xmlns:a16="http://schemas.microsoft.com/office/drawing/2014/main" id="{8F3466CA-45AF-D62D-70D7-E987CEC521ED}"/>
              </a:ext>
            </a:extLst>
          </p:cNvPr>
          <p:cNvSpPr txBox="1"/>
          <p:nvPr/>
        </p:nvSpPr>
        <p:spPr>
          <a:xfrm>
            <a:off x="4908177" y="2456747"/>
            <a:ext cx="1479176" cy="369332"/>
          </a:xfrm>
          <a:prstGeom prst="rect">
            <a:avLst/>
          </a:prstGeom>
          <a:noFill/>
        </p:spPr>
        <p:txBody>
          <a:bodyPr wrap="square" rtlCol="0">
            <a:spAutoFit/>
          </a:bodyPr>
          <a:lstStyle/>
          <a:p>
            <a:r>
              <a:rPr lang="en-GB" dirty="0"/>
              <a:t>Baseline</a:t>
            </a:r>
            <a:endParaRPr lang="en-AT" dirty="0"/>
          </a:p>
        </p:txBody>
      </p:sp>
    </p:spTree>
    <p:extLst>
      <p:ext uri="{BB962C8B-B14F-4D97-AF65-F5344CB8AC3E}">
        <p14:creationId xmlns:p14="http://schemas.microsoft.com/office/powerpoint/2010/main" val="6510949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95FC3-D62C-CFE7-A486-9F5D562F1CDC}"/>
              </a:ext>
            </a:extLst>
          </p:cNvPr>
          <p:cNvSpPr>
            <a:spLocks noGrp="1"/>
          </p:cNvSpPr>
          <p:nvPr>
            <p:ph type="title"/>
          </p:nvPr>
        </p:nvSpPr>
        <p:spPr/>
        <p:txBody>
          <a:bodyPr/>
          <a:lstStyle/>
          <a:p>
            <a:r>
              <a:rPr lang="en-GB" dirty="0"/>
              <a:t>Models - </a:t>
            </a:r>
            <a:r>
              <a:rPr lang="en-GB" sz="4400" dirty="0">
                <a:latin typeface="Consolas" panose="020B0609020204030204" pitchFamily="49" charset="0"/>
              </a:rPr>
              <a:t>Deepseek-r1</a:t>
            </a:r>
            <a:endParaRPr lang="en-AT" dirty="0"/>
          </a:p>
        </p:txBody>
      </p:sp>
      <p:sp>
        <p:nvSpPr>
          <p:cNvPr id="3" name="Content Placeholder 2">
            <a:extLst>
              <a:ext uri="{FF2B5EF4-FFF2-40B4-BE49-F238E27FC236}">
                <a16:creationId xmlns:a16="http://schemas.microsoft.com/office/drawing/2014/main" id="{480F3908-10FD-6222-8A24-FFB972FCF589}"/>
              </a:ext>
            </a:extLst>
          </p:cNvPr>
          <p:cNvSpPr>
            <a:spLocks noGrp="1"/>
          </p:cNvSpPr>
          <p:nvPr>
            <p:ph idx="1"/>
          </p:nvPr>
        </p:nvSpPr>
        <p:spPr/>
        <p:txBody>
          <a:bodyPr>
            <a:normAutofit/>
          </a:bodyPr>
          <a:lstStyle/>
          <a:p>
            <a:r>
              <a:rPr lang="en-GB" sz="2200" dirty="0">
                <a:latin typeface="Consolas" panose="020B0609020204030204" pitchFamily="49" charset="0"/>
              </a:rPr>
              <a:t>Distilled</a:t>
            </a:r>
          </a:p>
          <a:p>
            <a:pPr lvl="1"/>
            <a:r>
              <a:rPr lang="en-GB" sz="1800" dirty="0">
                <a:latin typeface="Consolas" panose="020B0609020204030204" pitchFamily="49" charset="0"/>
              </a:rPr>
              <a:t>1.5b</a:t>
            </a:r>
          </a:p>
          <a:p>
            <a:pPr lvl="1"/>
            <a:r>
              <a:rPr lang="en-GB" sz="1800" dirty="0">
                <a:latin typeface="Consolas" panose="020B0609020204030204" pitchFamily="49" charset="0"/>
              </a:rPr>
              <a:t>7b</a:t>
            </a:r>
          </a:p>
          <a:p>
            <a:pPr lvl="1"/>
            <a:r>
              <a:rPr lang="en-GB" sz="1800" dirty="0">
                <a:latin typeface="Consolas" panose="020B0609020204030204" pitchFamily="49" charset="0"/>
              </a:rPr>
              <a:t>8b</a:t>
            </a:r>
          </a:p>
          <a:p>
            <a:pPr lvl="1"/>
            <a:r>
              <a:rPr lang="en-GB" sz="1800" dirty="0">
                <a:latin typeface="Consolas" panose="020B0609020204030204" pitchFamily="49" charset="0"/>
              </a:rPr>
              <a:t>14b</a:t>
            </a:r>
          </a:p>
          <a:p>
            <a:pPr lvl="1"/>
            <a:r>
              <a:rPr lang="en-GB" sz="1800" dirty="0">
                <a:latin typeface="Consolas" panose="020B0609020204030204" pitchFamily="49" charset="0"/>
              </a:rPr>
              <a:t>32b</a:t>
            </a:r>
          </a:p>
          <a:p>
            <a:pPr lvl="1"/>
            <a:r>
              <a:rPr lang="en-GB" sz="1800" dirty="0">
                <a:latin typeface="Consolas" panose="020B0609020204030204" pitchFamily="49" charset="0"/>
              </a:rPr>
              <a:t>…</a:t>
            </a:r>
            <a:endParaRPr lang="en-GB" sz="2400" dirty="0">
              <a:latin typeface="Consolas" panose="020B0609020204030204" pitchFamily="49" charset="0"/>
            </a:endParaRPr>
          </a:p>
          <a:p>
            <a:r>
              <a:rPr lang="en-GB" sz="2000" dirty="0">
                <a:latin typeface="Consolas" panose="020B0609020204030204" pitchFamily="49" charset="0"/>
              </a:rPr>
              <a:t>Ollama 0.6.2</a:t>
            </a:r>
          </a:p>
          <a:p>
            <a:pPr lvl="1"/>
            <a:r>
              <a:rPr lang="en-GB" sz="1600" dirty="0">
                <a:latin typeface="Consolas" panose="020B0609020204030204" pitchFamily="49" charset="0"/>
              </a:rPr>
              <a:t>local</a:t>
            </a:r>
          </a:p>
          <a:p>
            <a:pPr lvl="1"/>
            <a:r>
              <a:rPr lang="en-GB" sz="1600" dirty="0">
                <a:latin typeface="Consolas" panose="020B0609020204030204" pitchFamily="49" charset="0"/>
              </a:rPr>
              <a:t>independent</a:t>
            </a:r>
            <a:endParaRPr lang="en-GB" sz="2000" dirty="0">
              <a:latin typeface="Consolas" panose="020B0609020204030204" pitchFamily="49" charset="0"/>
            </a:endParaRPr>
          </a:p>
          <a:p>
            <a:r>
              <a:rPr lang="en-GB" sz="2000" dirty="0">
                <a:latin typeface="Consolas" panose="020B0609020204030204" pitchFamily="49" charset="0"/>
              </a:rPr>
              <a:t>Fixed Parameters</a:t>
            </a:r>
          </a:p>
        </p:txBody>
      </p:sp>
      <p:pic>
        <p:nvPicPr>
          <p:cNvPr id="6" name="Picture 5" descr="A graph of different colored bars&#10;&#10;AI-generated content may be incorrect.">
            <a:extLst>
              <a:ext uri="{FF2B5EF4-FFF2-40B4-BE49-F238E27FC236}">
                <a16:creationId xmlns:a16="http://schemas.microsoft.com/office/drawing/2014/main" id="{9FFA9432-CB55-8855-73A0-86152DFE8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32754" y="1480634"/>
            <a:ext cx="7773574" cy="4696329"/>
          </a:xfrm>
          <a:prstGeom prst="rect">
            <a:avLst/>
          </a:prstGeom>
        </p:spPr>
      </p:pic>
    </p:spTree>
    <p:extLst>
      <p:ext uri="{BB962C8B-B14F-4D97-AF65-F5344CB8AC3E}">
        <p14:creationId xmlns:p14="http://schemas.microsoft.com/office/powerpoint/2010/main" val="2990344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F31E6-15D6-3903-0759-AF3BB7F43C65}"/>
              </a:ext>
            </a:extLst>
          </p:cNvPr>
          <p:cNvSpPr>
            <a:spLocks noGrp="1"/>
          </p:cNvSpPr>
          <p:nvPr>
            <p:ph type="title"/>
          </p:nvPr>
        </p:nvSpPr>
        <p:spPr/>
        <p:txBody>
          <a:bodyPr/>
          <a:lstStyle/>
          <a:p>
            <a:r>
              <a:rPr lang="en-GB" dirty="0">
                <a:latin typeface="Consolas" panose="020B0609020204030204" pitchFamily="49" charset="0"/>
              </a:rPr>
              <a:t>Results</a:t>
            </a:r>
            <a:endParaRPr lang="en-AT" dirty="0">
              <a:latin typeface="Consolas" panose="020B0609020204030204" pitchFamily="49" charset="0"/>
            </a:endParaRPr>
          </a:p>
        </p:txBody>
      </p:sp>
      <p:pic>
        <p:nvPicPr>
          <p:cNvPr id="21" name="Picture 20" descr="A graph with blue and white bars&#10;&#10;AI-generated content may be incorrect.">
            <a:extLst>
              <a:ext uri="{FF2B5EF4-FFF2-40B4-BE49-F238E27FC236}">
                <a16:creationId xmlns:a16="http://schemas.microsoft.com/office/drawing/2014/main" id="{7538A437-384A-1D85-278D-C45A8712FC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59542"/>
            <a:ext cx="12192000" cy="3406158"/>
          </a:xfrm>
          <a:prstGeom prst="rect">
            <a:avLst/>
          </a:prstGeom>
        </p:spPr>
      </p:pic>
      <p:pic>
        <p:nvPicPr>
          <p:cNvPr id="24" name="Picture 23" descr="A graph with blue and white stripes&#10;&#10;AI-generated content may be incorrect.">
            <a:extLst>
              <a:ext uri="{FF2B5EF4-FFF2-40B4-BE49-F238E27FC236}">
                <a16:creationId xmlns:a16="http://schemas.microsoft.com/office/drawing/2014/main" id="{D76A1B89-AE64-9F40-6E92-7384CBD703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540899"/>
            <a:ext cx="12192000" cy="3406158"/>
          </a:xfrm>
          <a:prstGeom prst="rect">
            <a:avLst/>
          </a:prstGeom>
        </p:spPr>
      </p:pic>
    </p:spTree>
    <p:extLst>
      <p:ext uri="{BB962C8B-B14F-4D97-AF65-F5344CB8AC3E}">
        <p14:creationId xmlns:p14="http://schemas.microsoft.com/office/powerpoint/2010/main" val="38037752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97236-E164-84A9-24F2-E45BC9725B6F}"/>
            </a:ext>
          </a:extLst>
        </p:cNvPr>
        <p:cNvGrpSpPr/>
        <p:nvPr/>
      </p:nvGrpSpPr>
      <p:grpSpPr>
        <a:xfrm>
          <a:off x="0" y="0"/>
          <a:ext cx="0" cy="0"/>
          <a:chOff x="0" y="0"/>
          <a:chExt cx="0" cy="0"/>
        </a:xfrm>
      </p:grpSpPr>
      <p:pic>
        <p:nvPicPr>
          <p:cNvPr id="21" name="Picture 20" descr="A graph with blue and white bars&#10;&#10;AI-generated content may be incorrect.">
            <a:extLst>
              <a:ext uri="{FF2B5EF4-FFF2-40B4-BE49-F238E27FC236}">
                <a16:creationId xmlns:a16="http://schemas.microsoft.com/office/drawing/2014/main" id="{0E211FCD-D298-A01D-645B-7D2B4FFD0D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59542"/>
            <a:ext cx="12192000" cy="3406158"/>
          </a:xfrm>
          <a:prstGeom prst="rect">
            <a:avLst/>
          </a:prstGeom>
        </p:spPr>
      </p:pic>
      <p:pic>
        <p:nvPicPr>
          <p:cNvPr id="9" name="Picture 8" descr="A graph with blue and white stripes&#10;&#10;AI-generated content may be incorrect.">
            <a:extLst>
              <a:ext uri="{FF2B5EF4-FFF2-40B4-BE49-F238E27FC236}">
                <a16:creationId xmlns:a16="http://schemas.microsoft.com/office/drawing/2014/main" id="{C7A36C36-88B2-3483-1441-3EFA1C94BE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531934"/>
            <a:ext cx="12192000" cy="3406158"/>
          </a:xfrm>
          <a:prstGeom prst="rect">
            <a:avLst/>
          </a:prstGeom>
        </p:spPr>
      </p:pic>
      <p:sp>
        <p:nvSpPr>
          <p:cNvPr id="2" name="Title 1">
            <a:extLst>
              <a:ext uri="{FF2B5EF4-FFF2-40B4-BE49-F238E27FC236}">
                <a16:creationId xmlns:a16="http://schemas.microsoft.com/office/drawing/2014/main" id="{E8EDFAAE-E253-B5D8-B442-992D47CC13D3}"/>
              </a:ext>
            </a:extLst>
          </p:cNvPr>
          <p:cNvSpPr>
            <a:spLocks noGrp="1"/>
          </p:cNvSpPr>
          <p:nvPr>
            <p:ph type="title"/>
          </p:nvPr>
        </p:nvSpPr>
        <p:spPr/>
        <p:txBody>
          <a:bodyPr/>
          <a:lstStyle/>
          <a:p>
            <a:r>
              <a:rPr lang="en-GB" dirty="0">
                <a:latin typeface="Consolas" panose="020B0609020204030204" pitchFamily="49" charset="0"/>
              </a:rPr>
              <a:t>Results</a:t>
            </a:r>
            <a:endParaRPr lang="en-AT" dirty="0">
              <a:latin typeface="Consolas" panose="020B0609020204030204" pitchFamily="49" charset="0"/>
            </a:endParaRPr>
          </a:p>
        </p:txBody>
      </p:sp>
      <p:sp>
        <p:nvSpPr>
          <p:cNvPr id="3" name="Rectangle 2">
            <a:extLst>
              <a:ext uri="{FF2B5EF4-FFF2-40B4-BE49-F238E27FC236}">
                <a16:creationId xmlns:a16="http://schemas.microsoft.com/office/drawing/2014/main" id="{D9882C11-5C57-E742-5E62-8819FE1D7C45}"/>
              </a:ext>
            </a:extLst>
          </p:cNvPr>
          <p:cNvSpPr/>
          <p:nvPr/>
        </p:nvSpPr>
        <p:spPr>
          <a:xfrm>
            <a:off x="10775577" y="1447477"/>
            <a:ext cx="551329" cy="435684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4" name="Rectangle 3">
            <a:extLst>
              <a:ext uri="{FF2B5EF4-FFF2-40B4-BE49-F238E27FC236}">
                <a16:creationId xmlns:a16="http://schemas.microsoft.com/office/drawing/2014/main" id="{5FEF312F-5FF3-ADF5-00D8-C9C052AF257F}"/>
              </a:ext>
            </a:extLst>
          </p:cNvPr>
          <p:cNvSpPr/>
          <p:nvPr/>
        </p:nvSpPr>
        <p:spPr>
          <a:xfrm>
            <a:off x="10107708" y="1447477"/>
            <a:ext cx="551329" cy="435684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6" name="TextBox 5">
            <a:extLst>
              <a:ext uri="{FF2B5EF4-FFF2-40B4-BE49-F238E27FC236}">
                <a16:creationId xmlns:a16="http://schemas.microsoft.com/office/drawing/2014/main" id="{6697E459-2235-EED1-8DC0-49502D9725B9}"/>
              </a:ext>
            </a:extLst>
          </p:cNvPr>
          <p:cNvSpPr txBox="1"/>
          <p:nvPr/>
        </p:nvSpPr>
        <p:spPr>
          <a:xfrm>
            <a:off x="10123397" y="1027906"/>
            <a:ext cx="535640" cy="400110"/>
          </a:xfrm>
          <a:prstGeom prst="rect">
            <a:avLst/>
          </a:prstGeom>
          <a:noFill/>
        </p:spPr>
        <p:txBody>
          <a:bodyPr wrap="square" rtlCol="0">
            <a:spAutoFit/>
          </a:bodyPr>
          <a:lstStyle/>
          <a:p>
            <a:r>
              <a:rPr lang="en-GB" sz="1000" dirty="0">
                <a:solidFill>
                  <a:srgbClr val="FF0000"/>
                </a:solidFill>
              </a:rPr>
              <a:t>95 #</a:t>
            </a:r>
          </a:p>
          <a:p>
            <a:r>
              <a:rPr lang="en-GB" sz="1000" dirty="0">
                <a:solidFill>
                  <a:srgbClr val="FF0000"/>
                </a:solidFill>
              </a:rPr>
              <a:t>90 %</a:t>
            </a:r>
            <a:endParaRPr lang="en-AT" sz="1000" dirty="0">
              <a:solidFill>
                <a:srgbClr val="FF0000"/>
              </a:solidFill>
            </a:endParaRPr>
          </a:p>
        </p:txBody>
      </p:sp>
      <p:sp>
        <p:nvSpPr>
          <p:cNvPr id="7" name="TextBox 6">
            <a:extLst>
              <a:ext uri="{FF2B5EF4-FFF2-40B4-BE49-F238E27FC236}">
                <a16:creationId xmlns:a16="http://schemas.microsoft.com/office/drawing/2014/main" id="{FE4CD9AD-7FC0-73FC-B81F-574A6A9C74ED}"/>
              </a:ext>
            </a:extLst>
          </p:cNvPr>
          <p:cNvSpPr txBox="1"/>
          <p:nvPr/>
        </p:nvSpPr>
        <p:spPr>
          <a:xfrm>
            <a:off x="10791266" y="1047367"/>
            <a:ext cx="535640" cy="400110"/>
          </a:xfrm>
          <a:prstGeom prst="rect">
            <a:avLst/>
          </a:prstGeom>
          <a:noFill/>
        </p:spPr>
        <p:txBody>
          <a:bodyPr wrap="square" rtlCol="0">
            <a:spAutoFit/>
          </a:bodyPr>
          <a:lstStyle/>
          <a:p>
            <a:r>
              <a:rPr lang="en-GB" sz="1000" dirty="0">
                <a:solidFill>
                  <a:srgbClr val="FF0000"/>
                </a:solidFill>
              </a:rPr>
              <a:t>95 #</a:t>
            </a:r>
          </a:p>
          <a:p>
            <a:r>
              <a:rPr lang="en-GB" sz="1000" dirty="0">
                <a:solidFill>
                  <a:srgbClr val="FF0000"/>
                </a:solidFill>
              </a:rPr>
              <a:t>92 %</a:t>
            </a:r>
            <a:endParaRPr lang="en-AT" sz="1000" dirty="0">
              <a:solidFill>
                <a:srgbClr val="FF0000"/>
              </a:solidFill>
            </a:endParaRPr>
          </a:p>
        </p:txBody>
      </p:sp>
    </p:spTree>
    <p:extLst>
      <p:ext uri="{BB962C8B-B14F-4D97-AF65-F5344CB8AC3E}">
        <p14:creationId xmlns:p14="http://schemas.microsoft.com/office/powerpoint/2010/main" val="2383129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DA3C418-758E-4180-A5D0-8655D68045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8C8EF06-5EC3-4883-AFAF-D74FF4655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5135971" cy="6871648"/>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white speech bubbles with question marks and light bulb&#10;&#10;AI-generated content may be incorrect.">
            <a:extLst>
              <a:ext uri="{FF2B5EF4-FFF2-40B4-BE49-F238E27FC236}">
                <a16:creationId xmlns:a16="http://schemas.microsoft.com/office/drawing/2014/main" id="{6050C4D7-C893-1C56-CED5-14661426AA7A}"/>
              </a:ext>
            </a:extLst>
          </p:cNvPr>
          <p:cNvPicPr>
            <a:picLocks noChangeAspect="1"/>
          </p:cNvPicPr>
          <p:nvPr/>
        </p:nvPicPr>
        <p:blipFill>
          <a:blip r:embed="rId3">
            <a:extLst>
              <a:ext uri="{28A0092B-C50C-407E-A947-70E740481C1C}">
                <a14:useLocalDpi xmlns:a14="http://schemas.microsoft.com/office/drawing/2010/main" val="0"/>
              </a:ext>
            </a:extLst>
          </a:blip>
          <a:srcRect l="4273" r="6113" b="-1"/>
          <a:stretch>
            <a:fillRect/>
          </a:stretch>
        </p:blipFill>
        <p:spPr>
          <a:xfrm>
            <a:off x="2915455" y="10"/>
            <a:ext cx="9276545" cy="6857990"/>
          </a:xfrm>
          <a:custGeom>
            <a:avLst/>
            <a:gdLst/>
            <a:ahLst/>
            <a:cxnLst/>
            <a:rect l="l" t="t" r="r" b="b"/>
            <a:pathLst>
              <a:path w="9276545" h="6871647">
                <a:moveTo>
                  <a:pt x="9276545" y="0"/>
                </a:moveTo>
                <a:lnTo>
                  <a:pt x="9276545" y="6858000"/>
                </a:lnTo>
                <a:lnTo>
                  <a:pt x="1546051" y="6871647"/>
                </a:lnTo>
                <a:lnTo>
                  <a:pt x="1535751" y="6828910"/>
                </a:lnTo>
                <a:cubicBezTo>
                  <a:pt x="1530460" y="6775140"/>
                  <a:pt x="1515370" y="6618042"/>
                  <a:pt x="1514301" y="6549029"/>
                </a:cubicBezTo>
                <a:cubicBezTo>
                  <a:pt x="1518045" y="6491396"/>
                  <a:pt x="1528503" y="6450608"/>
                  <a:pt x="1529339" y="6414828"/>
                </a:cubicBezTo>
                <a:cubicBezTo>
                  <a:pt x="1525062" y="6359280"/>
                  <a:pt x="1502062" y="6307149"/>
                  <a:pt x="1493941" y="6268848"/>
                </a:cubicBezTo>
                <a:cubicBezTo>
                  <a:pt x="1502669" y="6254191"/>
                  <a:pt x="1469920" y="6200171"/>
                  <a:pt x="1480613" y="6185025"/>
                </a:cubicBezTo>
                <a:cubicBezTo>
                  <a:pt x="1481020" y="6164522"/>
                  <a:pt x="1458164" y="6060790"/>
                  <a:pt x="1443364" y="6018360"/>
                </a:cubicBezTo>
                <a:cubicBezTo>
                  <a:pt x="1426694" y="5970758"/>
                  <a:pt x="1390307" y="5920074"/>
                  <a:pt x="1380584" y="5899407"/>
                </a:cubicBezTo>
                <a:cubicBezTo>
                  <a:pt x="1370860" y="5878740"/>
                  <a:pt x="1392244" y="5920877"/>
                  <a:pt x="1385023" y="5894356"/>
                </a:cubicBezTo>
                <a:cubicBezTo>
                  <a:pt x="1377800" y="5867835"/>
                  <a:pt x="1345702" y="5770498"/>
                  <a:pt x="1337254" y="5740279"/>
                </a:cubicBezTo>
                <a:cubicBezTo>
                  <a:pt x="1353956" y="5738860"/>
                  <a:pt x="1323673" y="5722040"/>
                  <a:pt x="1334321" y="5713042"/>
                </a:cubicBezTo>
                <a:cubicBezTo>
                  <a:pt x="1343675" y="5706701"/>
                  <a:pt x="1336672" y="5700118"/>
                  <a:pt x="1335877" y="5692870"/>
                </a:cubicBezTo>
                <a:cubicBezTo>
                  <a:pt x="1343201" y="5683812"/>
                  <a:pt x="1329617" y="5652064"/>
                  <a:pt x="1319978" y="5643427"/>
                </a:cubicBezTo>
                <a:cubicBezTo>
                  <a:pt x="1286551" y="5622177"/>
                  <a:pt x="1310947" y="5579803"/>
                  <a:pt x="1285321" y="5562271"/>
                </a:cubicBezTo>
                <a:cubicBezTo>
                  <a:pt x="1281540" y="5556238"/>
                  <a:pt x="1279983" y="5550455"/>
                  <a:pt x="1279815" y="5544867"/>
                </a:cubicBezTo>
                <a:lnTo>
                  <a:pt x="1282507" y="5529404"/>
                </a:lnTo>
                <a:lnTo>
                  <a:pt x="1289604" y="5525378"/>
                </a:lnTo>
                <a:lnTo>
                  <a:pt x="1287766" y="5515726"/>
                </a:lnTo>
                <a:lnTo>
                  <a:pt x="1288829" y="5513051"/>
                </a:lnTo>
                <a:cubicBezTo>
                  <a:pt x="1290896" y="5507946"/>
                  <a:pt x="1292688" y="5502897"/>
                  <a:pt x="1293373" y="5497833"/>
                </a:cubicBezTo>
                <a:cubicBezTo>
                  <a:pt x="1288690" y="5483829"/>
                  <a:pt x="1272696" y="5459278"/>
                  <a:pt x="1260736" y="5429027"/>
                </a:cubicBezTo>
                <a:cubicBezTo>
                  <a:pt x="1238579" y="5396416"/>
                  <a:pt x="1238884" y="5351600"/>
                  <a:pt x="1221610" y="5316328"/>
                </a:cubicBezTo>
                <a:lnTo>
                  <a:pt x="1216099" y="5309330"/>
                </a:lnTo>
                <a:lnTo>
                  <a:pt x="1217278" y="5279477"/>
                </a:lnTo>
                <a:cubicBezTo>
                  <a:pt x="1221588" y="5274318"/>
                  <a:pt x="1222716" y="5266940"/>
                  <a:pt x="1218469" y="5260597"/>
                </a:cubicBezTo>
                <a:lnTo>
                  <a:pt x="1206220" y="5152555"/>
                </a:lnTo>
                <a:cubicBezTo>
                  <a:pt x="1205294" y="5116878"/>
                  <a:pt x="1196908" y="5101727"/>
                  <a:pt x="1212921" y="5046536"/>
                </a:cubicBezTo>
                <a:cubicBezTo>
                  <a:pt x="1234138" y="4987918"/>
                  <a:pt x="1204801" y="4903116"/>
                  <a:pt x="1212183" y="4837345"/>
                </a:cubicBezTo>
                <a:cubicBezTo>
                  <a:pt x="1183151" y="4802424"/>
                  <a:pt x="1209228" y="4821062"/>
                  <a:pt x="1202048" y="4784195"/>
                </a:cubicBezTo>
                <a:cubicBezTo>
                  <a:pt x="1202483" y="4760878"/>
                  <a:pt x="1202919" y="4737561"/>
                  <a:pt x="1203354" y="4714245"/>
                </a:cubicBezTo>
                <a:lnTo>
                  <a:pt x="1201502" y="4700836"/>
                </a:lnTo>
                <a:lnTo>
                  <a:pt x="1194919" y="4697224"/>
                </a:lnTo>
                <a:lnTo>
                  <a:pt x="1187792" y="4677162"/>
                </a:lnTo>
                <a:cubicBezTo>
                  <a:pt x="1186060" y="4669625"/>
                  <a:pt x="1185291" y="4661478"/>
                  <a:pt x="1186080" y="4652429"/>
                </a:cubicBezTo>
                <a:cubicBezTo>
                  <a:pt x="1199189" y="4622456"/>
                  <a:pt x="1167081" y="4571771"/>
                  <a:pt x="1184722" y="4534840"/>
                </a:cubicBezTo>
                <a:cubicBezTo>
                  <a:pt x="1182407" y="4499077"/>
                  <a:pt x="1175424" y="4460227"/>
                  <a:pt x="1172188" y="4437851"/>
                </a:cubicBezTo>
                <a:cubicBezTo>
                  <a:pt x="1161331" y="4428466"/>
                  <a:pt x="1178123" y="4398274"/>
                  <a:pt x="1165306" y="4400581"/>
                </a:cubicBezTo>
                <a:cubicBezTo>
                  <a:pt x="1171061" y="4389819"/>
                  <a:pt x="1173552" y="4346771"/>
                  <a:pt x="1168602" y="4335651"/>
                </a:cubicBezTo>
                <a:lnTo>
                  <a:pt x="1178384" y="4280215"/>
                </a:lnTo>
                <a:lnTo>
                  <a:pt x="1177294" y="4274660"/>
                </a:lnTo>
                <a:cubicBezTo>
                  <a:pt x="1177138" y="4268882"/>
                  <a:pt x="1177520" y="4251103"/>
                  <a:pt x="1177448" y="4245552"/>
                </a:cubicBezTo>
                <a:cubicBezTo>
                  <a:pt x="1177252" y="4244155"/>
                  <a:pt x="1177058" y="4242757"/>
                  <a:pt x="1176863" y="4241361"/>
                </a:cubicBezTo>
                <a:lnTo>
                  <a:pt x="1162386" y="4207167"/>
                </a:lnTo>
                <a:cubicBezTo>
                  <a:pt x="1162950" y="4202536"/>
                  <a:pt x="1174655" y="4199565"/>
                  <a:pt x="1174343" y="4192380"/>
                </a:cubicBezTo>
                <a:lnTo>
                  <a:pt x="1160516" y="4164062"/>
                </a:lnTo>
                <a:lnTo>
                  <a:pt x="1161365" y="4158623"/>
                </a:lnTo>
                <a:lnTo>
                  <a:pt x="1144878" y="4076261"/>
                </a:lnTo>
                <a:lnTo>
                  <a:pt x="1123687" y="4005692"/>
                </a:lnTo>
                <a:lnTo>
                  <a:pt x="1096720" y="3754257"/>
                </a:lnTo>
                <a:cubicBezTo>
                  <a:pt x="1083618" y="3639924"/>
                  <a:pt x="1064313" y="3636659"/>
                  <a:pt x="1047682" y="3517638"/>
                </a:cubicBezTo>
                <a:cubicBezTo>
                  <a:pt x="1048550" y="3477187"/>
                  <a:pt x="1049418" y="3436735"/>
                  <a:pt x="1050285" y="3396284"/>
                </a:cubicBezTo>
                <a:lnTo>
                  <a:pt x="1030166" y="3320814"/>
                </a:lnTo>
                <a:lnTo>
                  <a:pt x="1034128" y="3260443"/>
                </a:lnTo>
                <a:lnTo>
                  <a:pt x="1007751" y="3198916"/>
                </a:lnTo>
                <a:cubicBezTo>
                  <a:pt x="1003323" y="3193074"/>
                  <a:pt x="1001150" y="3187393"/>
                  <a:pt x="1000384" y="3181839"/>
                </a:cubicBezTo>
                <a:cubicBezTo>
                  <a:pt x="1000734" y="3176675"/>
                  <a:pt x="1001085" y="3171511"/>
                  <a:pt x="1001435" y="3166346"/>
                </a:cubicBezTo>
                <a:lnTo>
                  <a:pt x="968918" y="3112638"/>
                </a:lnTo>
                <a:cubicBezTo>
                  <a:pt x="957125" y="3092489"/>
                  <a:pt x="955617" y="3065232"/>
                  <a:pt x="934483" y="3031628"/>
                </a:cubicBezTo>
                <a:cubicBezTo>
                  <a:pt x="914631" y="2997037"/>
                  <a:pt x="908933" y="3005661"/>
                  <a:pt x="879229" y="2948196"/>
                </a:cubicBezTo>
                <a:cubicBezTo>
                  <a:pt x="850845" y="2897154"/>
                  <a:pt x="820829" y="2806798"/>
                  <a:pt x="798666" y="2761198"/>
                </a:cubicBezTo>
                <a:cubicBezTo>
                  <a:pt x="773970" y="2714562"/>
                  <a:pt x="758278" y="2715446"/>
                  <a:pt x="746962" y="2694939"/>
                </a:cubicBezTo>
                <a:lnTo>
                  <a:pt x="712796" y="2614779"/>
                </a:lnTo>
                <a:lnTo>
                  <a:pt x="697701" y="2600020"/>
                </a:lnTo>
                <a:cubicBezTo>
                  <a:pt x="697743" y="2598787"/>
                  <a:pt x="697784" y="2597555"/>
                  <a:pt x="697823" y="2596321"/>
                </a:cubicBezTo>
                <a:lnTo>
                  <a:pt x="679645" y="2572602"/>
                </a:lnTo>
                <a:lnTo>
                  <a:pt x="680789" y="2571831"/>
                </a:lnTo>
                <a:cubicBezTo>
                  <a:pt x="682946" y="2569560"/>
                  <a:pt x="683757" y="2566863"/>
                  <a:pt x="681771" y="2563200"/>
                </a:cubicBezTo>
                <a:cubicBezTo>
                  <a:pt x="705290" y="2562299"/>
                  <a:pt x="688388" y="2558438"/>
                  <a:pt x="680456" y="2547723"/>
                </a:cubicBezTo>
                <a:cubicBezTo>
                  <a:pt x="679482" y="2534148"/>
                  <a:pt x="677183" y="2493617"/>
                  <a:pt x="675922" y="2481749"/>
                </a:cubicBezTo>
                <a:lnTo>
                  <a:pt x="672894" y="2476509"/>
                </a:lnTo>
                <a:lnTo>
                  <a:pt x="673143" y="2476297"/>
                </a:lnTo>
                <a:cubicBezTo>
                  <a:pt x="673152" y="2474932"/>
                  <a:pt x="672405" y="2473126"/>
                  <a:pt x="670567" y="2470561"/>
                </a:cubicBezTo>
                <a:lnTo>
                  <a:pt x="667369" y="2466951"/>
                </a:lnTo>
                <a:lnTo>
                  <a:pt x="661495" y="2456785"/>
                </a:lnTo>
                <a:cubicBezTo>
                  <a:pt x="661510" y="2455387"/>
                  <a:pt x="661525" y="2453987"/>
                  <a:pt x="661540" y="2452588"/>
                </a:cubicBezTo>
                <a:lnTo>
                  <a:pt x="664540" y="2449913"/>
                </a:lnTo>
                <a:lnTo>
                  <a:pt x="663581" y="2449129"/>
                </a:lnTo>
                <a:cubicBezTo>
                  <a:pt x="653014" y="2444453"/>
                  <a:pt x="642406" y="2445872"/>
                  <a:pt x="663129" y="2426579"/>
                </a:cubicBezTo>
                <a:cubicBezTo>
                  <a:pt x="643271" y="2414167"/>
                  <a:pt x="657229" y="2404769"/>
                  <a:pt x="650205" y="2379928"/>
                </a:cubicBezTo>
                <a:cubicBezTo>
                  <a:pt x="634911" y="2374359"/>
                  <a:pt x="634260" y="2365346"/>
                  <a:pt x="638008" y="2354824"/>
                </a:cubicBezTo>
                <a:cubicBezTo>
                  <a:pt x="621083" y="2334576"/>
                  <a:pt x="620949" y="2310146"/>
                  <a:pt x="609851" y="2284299"/>
                </a:cubicBezTo>
                <a:lnTo>
                  <a:pt x="585585" y="2155739"/>
                </a:lnTo>
                <a:lnTo>
                  <a:pt x="581391" y="2152892"/>
                </a:lnTo>
                <a:cubicBezTo>
                  <a:pt x="578821" y="2150768"/>
                  <a:pt x="577525" y="2149149"/>
                  <a:pt x="577083" y="2147807"/>
                </a:cubicBezTo>
                <a:lnTo>
                  <a:pt x="577251" y="2147544"/>
                </a:lnTo>
                <a:lnTo>
                  <a:pt x="546845" y="2085601"/>
                </a:lnTo>
                <a:cubicBezTo>
                  <a:pt x="538270" y="2073917"/>
                  <a:pt x="486356" y="1955894"/>
                  <a:pt x="470837" y="1931362"/>
                </a:cubicBezTo>
                <a:lnTo>
                  <a:pt x="428154" y="1657167"/>
                </a:lnTo>
                <a:lnTo>
                  <a:pt x="392797" y="1510175"/>
                </a:lnTo>
                <a:cubicBezTo>
                  <a:pt x="380165" y="1504446"/>
                  <a:pt x="369910" y="1451095"/>
                  <a:pt x="372847" y="1440507"/>
                </a:cubicBezTo>
                <a:cubicBezTo>
                  <a:pt x="369015" y="1433783"/>
                  <a:pt x="338503" y="1376212"/>
                  <a:pt x="344479" y="1367690"/>
                </a:cubicBezTo>
                <a:cubicBezTo>
                  <a:pt x="332264" y="1342150"/>
                  <a:pt x="321736" y="1310521"/>
                  <a:pt x="299558" y="1287266"/>
                </a:cubicBezTo>
                <a:cubicBezTo>
                  <a:pt x="277380" y="1264010"/>
                  <a:pt x="259203" y="1269909"/>
                  <a:pt x="243216" y="1249403"/>
                </a:cubicBezTo>
                <a:cubicBezTo>
                  <a:pt x="227230" y="1228898"/>
                  <a:pt x="218454" y="1166841"/>
                  <a:pt x="203639" y="1164232"/>
                </a:cubicBezTo>
                <a:cubicBezTo>
                  <a:pt x="192352" y="1144923"/>
                  <a:pt x="198158" y="1133798"/>
                  <a:pt x="169195" y="1087898"/>
                </a:cubicBezTo>
                <a:cubicBezTo>
                  <a:pt x="139228" y="1002950"/>
                  <a:pt x="140891" y="969630"/>
                  <a:pt x="98775" y="910071"/>
                </a:cubicBezTo>
                <a:cubicBezTo>
                  <a:pt x="45025" y="831068"/>
                  <a:pt x="34038" y="817468"/>
                  <a:pt x="43820" y="712632"/>
                </a:cubicBezTo>
                <a:cubicBezTo>
                  <a:pt x="34816" y="659496"/>
                  <a:pt x="43273" y="613587"/>
                  <a:pt x="44748" y="591246"/>
                </a:cubicBezTo>
                <a:lnTo>
                  <a:pt x="36767" y="546725"/>
                </a:lnTo>
                <a:cubicBezTo>
                  <a:pt x="36093" y="528360"/>
                  <a:pt x="35418" y="509996"/>
                  <a:pt x="34744" y="491632"/>
                </a:cubicBezTo>
                <a:cubicBezTo>
                  <a:pt x="34670" y="458441"/>
                  <a:pt x="29296" y="473054"/>
                  <a:pt x="29222" y="439863"/>
                </a:cubicBezTo>
                <a:cubicBezTo>
                  <a:pt x="29152" y="439762"/>
                  <a:pt x="2578" y="397168"/>
                  <a:pt x="2507" y="397065"/>
                </a:cubicBezTo>
                <a:cubicBezTo>
                  <a:pt x="-7796" y="385479"/>
                  <a:pt x="17492" y="336832"/>
                  <a:pt x="9810" y="317232"/>
                </a:cubicBezTo>
                <a:lnTo>
                  <a:pt x="25323" y="268841"/>
                </a:lnTo>
                <a:cubicBezTo>
                  <a:pt x="20582" y="241406"/>
                  <a:pt x="55391" y="238509"/>
                  <a:pt x="50278" y="195107"/>
                </a:cubicBezTo>
                <a:cubicBezTo>
                  <a:pt x="49891" y="157638"/>
                  <a:pt x="41873" y="124837"/>
                  <a:pt x="47653" y="93413"/>
                </a:cubicBezTo>
                <a:cubicBezTo>
                  <a:pt x="41389" y="80245"/>
                  <a:pt x="38874" y="67990"/>
                  <a:pt x="48323" y="56668"/>
                </a:cubicBezTo>
                <a:cubicBezTo>
                  <a:pt x="46028" y="30349"/>
                  <a:pt x="37896" y="18658"/>
                  <a:pt x="38423" y="5323"/>
                </a:cubicBezTo>
                <a:lnTo>
                  <a:pt x="39875" y="1"/>
                </a:lnTo>
                <a:close/>
              </a:path>
            </a:pathLst>
          </a:custGeom>
        </p:spPr>
      </p:pic>
      <p:sp>
        <p:nvSpPr>
          <p:cNvPr id="2" name="Title 1">
            <a:extLst>
              <a:ext uri="{FF2B5EF4-FFF2-40B4-BE49-F238E27FC236}">
                <a16:creationId xmlns:a16="http://schemas.microsoft.com/office/drawing/2014/main" id="{46FE4B27-60D4-B8B2-87CB-62D6922487A6}"/>
              </a:ext>
            </a:extLst>
          </p:cNvPr>
          <p:cNvSpPr>
            <a:spLocks noGrp="1"/>
          </p:cNvSpPr>
          <p:nvPr>
            <p:ph type="title"/>
          </p:nvPr>
        </p:nvSpPr>
        <p:spPr>
          <a:xfrm>
            <a:off x="661916" y="2852381"/>
            <a:ext cx="3161940" cy="2640247"/>
          </a:xfrm>
        </p:spPr>
        <p:txBody>
          <a:bodyPr vert="horz" lIns="91440" tIns="45720" rIns="91440" bIns="45720" rtlCol="0" anchor="b">
            <a:normAutofit/>
          </a:bodyPr>
          <a:lstStyle/>
          <a:p>
            <a:r>
              <a:rPr lang="en-US" sz="3600" dirty="0">
                <a:solidFill>
                  <a:schemeClr val="tx1">
                    <a:lumMod val="85000"/>
                    <a:lumOff val="15000"/>
                  </a:schemeClr>
                </a:solidFill>
              </a:rPr>
              <a:t>Q &amp; A</a:t>
            </a:r>
          </a:p>
        </p:txBody>
      </p:sp>
    </p:spTree>
    <p:extLst>
      <p:ext uri="{BB962C8B-B14F-4D97-AF65-F5344CB8AC3E}">
        <p14:creationId xmlns:p14="http://schemas.microsoft.com/office/powerpoint/2010/main" val="3851137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958A0-8E5A-F8AD-44A3-435CE0BAF065}"/>
              </a:ext>
            </a:extLst>
          </p:cNvPr>
          <p:cNvSpPr>
            <a:spLocks noGrp="1"/>
          </p:cNvSpPr>
          <p:nvPr>
            <p:ph type="title"/>
          </p:nvPr>
        </p:nvSpPr>
        <p:spPr/>
        <p:txBody>
          <a:bodyPr/>
          <a:lstStyle/>
          <a:p>
            <a:r>
              <a:rPr lang="en-GB" dirty="0"/>
              <a:t>Challenges</a:t>
            </a:r>
            <a:endParaRPr lang="en-AT" dirty="0"/>
          </a:p>
        </p:txBody>
      </p:sp>
      <p:sp>
        <p:nvSpPr>
          <p:cNvPr id="3" name="Content Placeholder 2">
            <a:extLst>
              <a:ext uri="{FF2B5EF4-FFF2-40B4-BE49-F238E27FC236}">
                <a16:creationId xmlns:a16="http://schemas.microsoft.com/office/drawing/2014/main" id="{84DEF03D-144D-239E-0DE9-224CE2315E68}"/>
              </a:ext>
            </a:extLst>
          </p:cNvPr>
          <p:cNvSpPr>
            <a:spLocks noGrp="1"/>
          </p:cNvSpPr>
          <p:nvPr>
            <p:ph idx="1"/>
          </p:nvPr>
        </p:nvSpPr>
        <p:spPr/>
        <p:txBody>
          <a:bodyPr>
            <a:normAutofit/>
          </a:bodyPr>
          <a:lstStyle/>
          <a:p>
            <a:r>
              <a:rPr lang="en-GB" dirty="0"/>
              <a:t>Output generation</a:t>
            </a:r>
          </a:p>
          <a:p>
            <a:pPr lvl="1"/>
            <a:r>
              <a:rPr lang="en-GB" sz="2000" dirty="0"/>
              <a:t>Unstable output with default parameters</a:t>
            </a:r>
          </a:p>
          <a:p>
            <a:pPr lvl="2"/>
            <a:r>
              <a:rPr lang="en-GB" sz="1600" dirty="0"/>
              <a:t>Increased context window</a:t>
            </a:r>
          </a:p>
          <a:p>
            <a:pPr lvl="2"/>
            <a:r>
              <a:rPr lang="en-GB" sz="1600" dirty="0"/>
              <a:t>Decreased repeat penalty</a:t>
            </a:r>
          </a:p>
          <a:p>
            <a:pPr lvl="2"/>
            <a:r>
              <a:rPr lang="en-GB" sz="1600" dirty="0"/>
              <a:t>Decreased top_p</a:t>
            </a:r>
            <a:endParaRPr lang="en-GB" dirty="0"/>
          </a:p>
          <a:p>
            <a:pPr lvl="1"/>
            <a:r>
              <a:rPr lang="en-GB" sz="2000" dirty="0"/>
              <a:t>1.5b – very unreliable</a:t>
            </a:r>
          </a:p>
          <a:p>
            <a:pPr lvl="1"/>
            <a:r>
              <a:rPr lang="en-GB" sz="2000" dirty="0">
                <a:latin typeface="Consolas" panose="020B0609020204030204" pitchFamily="49" charset="0"/>
              </a:rPr>
              <a:t>&gt;32b parameters - local resource limit</a:t>
            </a:r>
          </a:p>
          <a:p>
            <a:r>
              <a:rPr lang="en-GB" dirty="0"/>
              <a:t>Field Rules</a:t>
            </a:r>
          </a:p>
          <a:p>
            <a:pPr lvl="1"/>
            <a:r>
              <a:rPr lang="en-GB" dirty="0"/>
              <a:t>Present tense check uncertanties</a:t>
            </a:r>
          </a:p>
          <a:p>
            <a:pPr lvl="1"/>
            <a:endParaRPr lang="en-GB" dirty="0"/>
          </a:p>
          <a:p>
            <a:pPr lvl="1"/>
            <a:endParaRPr lang="en-AT" dirty="0"/>
          </a:p>
        </p:txBody>
      </p:sp>
    </p:spTree>
    <p:extLst>
      <p:ext uri="{BB962C8B-B14F-4D97-AF65-F5344CB8AC3E}">
        <p14:creationId xmlns:p14="http://schemas.microsoft.com/office/powerpoint/2010/main" val="2733759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EEDC9-2608-346D-53B0-3FAD20BBD102}"/>
              </a:ext>
            </a:extLst>
          </p:cNvPr>
          <p:cNvSpPr>
            <a:spLocks noGrp="1"/>
          </p:cNvSpPr>
          <p:nvPr>
            <p:ph type="title"/>
          </p:nvPr>
        </p:nvSpPr>
        <p:spPr/>
        <p:txBody>
          <a:bodyPr/>
          <a:lstStyle/>
          <a:p>
            <a:r>
              <a:rPr lang="en-GB" dirty="0"/>
              <a:t>Field check analysis</a:t>
            </a:r>
            <a:endParaRPr lang="en-AT" dirty="0"/>
          </a:p>
        </p:txBody>
      </p:sp>
      <p:sp>
        <p:nvSpPr>
          <p:cNvPr id="5" name="Content Placeholder 4">
            <a:extLst>
              <a:ext uri="{FF2B5EF4-FFF2-40B4-BE49-F238E27FC236}">
                <a16:creationId xmlns:a16="http://schemas.microsoft.com/office/drawing/2014/main" id="{8E2C0F10-A04A-DA19-E6F5-521CEBF0B8FC}"/>
              </a:ext>
            </a:extLst>
          </p:cNvPr>
          <p:cNvSpPr>
            <a:spLocks noGrp="1"/>
          </p:cNvSpPr>
          <p:nvPr>
            <p:ph idx="1"/>
          </p:nvPr>
        </p:nvSpPr>
        <p:spPr/>
        <p:txBody>
          <a:bodyPr>
            <a:normAutofit/>
          </a:bodyPr>
          <a:lstStyle/>
          <a:p>
            <a:r>
              <a:rPr lang="en-GB" dirty="0"/>
              <a:t>Example output - persona prompt 14b</a:t>
            </a:r>
            <a:endParaRPr lang="en-AT" dirty="0"/>
          </a:p>
        </p:txBody>
      </p:sp>
      <p:pic>
        <p:nvPicPr>
          <p:cNvPr id="12" name="Picture 11">
            <a:extLst>
              <a:ext uri="{FF2B5EF4-FFF2-40B4-BE49-F238E27FC236}">
                <a16:creationId xmlns:a16="http://schemas.microsoft.com/office/drawing/2014/main" id="{8C7A68D2-B6FD-63C1-FD6C-FF299B350C43}"/>
              </a:ext>
            </a:extLst>
          </p:cNvPr>
          <p:cNvPicPr>
            <a:picLocks noChangeAspect="1"/>
          </p:cNvPicPr>
          <p:nvPr/>
        </p:nvPicPr>
        <p:blipFill>
          <a:blip r:embed="rId3"/>
          <a:stretch>
            <a:fillRect/>
          </a:stretch>
        </p:blipFill>
        <p:spPr>
          <a:xfrm>
            <a:off x="838200" y="2663825"/>
            <a:ext cx="10925175" cy="3648075"/>
          </a:xfrm>
          <a:prstGeom prst="rect">
            <a:avLst/>
          </a:prstGeom>
        </p:spPr>
      </p:pic>
    </p:spTree>
    <p:extLst>
      <p:ext uri="{BB962C8B-B14F-4D97-AF65-F5344CB8AC3E}">
        <p14:creationId xmlns:p14="http://schemas.microsoft.com/office/powerpoint/2010/main" val="2585793577"/>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2">
      <a:majorFont>
        <a:latin typeface="Consolas"/>
        <a:ea typeface=""/>
        <a:cs typeface=""/>
      </a:majorFont>
      <a:minorFont>
        <a:latin typeface="Consola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TM10001114[[fn=Gallery]]</Template>
  <TotalTime>5045</TotalTime>
  <Words>1709</Words>
  <Application>Microsoft Office PowerPoint</Application>
  <PresentationFormat>Widescreen</PresentationFormat>
  <Paragraphs>230</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Consolas</vt:lpstr>
      <vt:lpstr>Wingdings</vt:lpstr>
      <vt:lpstr>Office Theme</vt:lpstr>
      <vt:lpstr>Feasibility of Using Large Language Models for Requirement-Based Software Testing</vt:lpstr>
      <vt:lpstr>Software testing overview</vt:lpstr>
      <vt:lpstr>Focus of this study – Acceptance Testing</vt:lpstr>
      <vt:lpstr>Experimental Setup</vt:lpstr>
      <vt:lpstr>Experimental Setup</vt:lpstr>
      <vt:lpstr>PowerPoint Presentation</vt:lpstr>
      <vt:lpstr>Prompt Engineering techniques</vt:lpstr>
      <vt:lpstr>Models - Deepseek-r1</vt:lpstr>
      <vt:lpstr>Results</vt:lpstr>
      <vt:lpstr>Results</vt:lpstr>
      <vt:lpstr>Q &amp; A</vt:lpstr>
      <vt:lpstr>Challenges</vt:lpstr>
      <vt:lpstr>Field check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Seyr, Alexander Josef</dc:creator>
  <cp:lastModifiedBy>Seyr, Alexander Josef</cp:lastModifiedBy>
  <cp:revision>32</cp:revision>
  <dcterms:created xsi:type="dcterms:W3CDTF">2025-04-14T13:51:31Z</dcterms:created>
  <dcterms:modified xsi:type="dcterms:W3CDTF">2025-06-02T07:10:37Z</dcterms:modified>
</cp:coreProperties>
</file>